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ounttB8wOy4ruJJsLnQ7qncSx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289AAA-7F23-49BC-BC7E-C14AFD6A27FA}">
  <a:tblStyle styleId="{91289AAA-7F23-49BC-BC7E-C14AFD6A27F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github.com/abhirami-ananthakumar/multi-branch-retail-performance-operations-analytics" TargetMode="External"/><Relationship Id="rId4" Type="http://schemas.openxmlformats.org/officeDocument/2006/relationships/hyperlink" Target="http://linkedin.com/in/abhirami-ananthakumar-8b83a525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864"/>
        </a:solidFill>
      </p:bgPr>
    </p:bg>
    <p:spTree>
      <p:nvGrpSpPr>
        <p:cNvPr id="15" name="Shape 15"/>
        <p:cNvGrpSpPr/>
        <p:nvPr/>
      </p:nvGrpSpPr>
      <p:grpSpPr>
        <a:xfrm>
          <a:off x="0" y="0"/>
          <a:ext cx="0" cy="0"/>
          <a:chOff x="0" y="0"/>
          <a:chExt cx="0" cy="0"/>
        </a:xfrm>
      </p:grpSpPr>
      <p:sp>
        <p:nvSpPr>
          <p:cNvPr id="16" name="Google Shape;16;p1"/>
          <p:cNvSpPr/>
          <p:nvPr/>
        </p:nvSpPr>
        <p:spPr>
          <a:xfrm>
            <a:off x="0" y="0"/>
            <a:ext cx="12191695" cy="6858000"/>
          </a:xfrm>
          <a:prstGeom prst="rect">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8961120" y="-2011680"/>
            <a:ext cx="5486400" cy="5486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2E74B5">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10332720" y="3840480"/>
            <a:ext cx="3657600" cy="3657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C9A227">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731520" y="137160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400"/>
              <a:buFont typeface="Calibri"/>
              <a:buNone/>
            </a:pPr>
            <a:r>
              <a:rPr b="1" lang="en-US" sz="1600">
                <a:solidFill>
                  <a:srgbClr val="C9A227"/>
                </a:solidFill>
                <a:latin typeface="Calibri"/>
                <a:ea typeface="Calibri"/>
                <a:cs typeface="Calibri"/>
                <a:sym typeface="Calibri"/>
              </a:rPr>
              <a:t>END-TO-END </a:t>
            </a:r>
            <a:r>
              <a:rPr b="1" i="0" lang="en-US" sz="1600" u="none" cap="none" strike="noStrike">
                <a:solidFill>
                  <a:srgbClr val="C9A227"/>
                </a:solidFill>
                <a:latin typeface="Calibri"/>
                <a:ea typeface="Calibri"/>
                <a:cs typeface="Calibri"/>
                <a:sym typeface="Calibri"/>
              </a:rPr>
              <a:t>DATA ANALYTICS  PROJECT</a:t>
            </a:r>
            <a:endParaRPr b="0" i="0" sz="1600" u="none" cap="none" strike="noStrike">
              <a:solidFill>
                <a:schemeClr val="dk1"/>
              </a:solidFill>
              <a:latin typeface="Calibri"/>
              <a:ea typeface="Calibri"/>
              <a:cs typeface="Calibri"/>
              <a:sym typeface="Calibri"/>
            </a:endParaRPr>
          </a:p>
        </p:txBody>
      </p:sp>
      <p:sp>
        <p:nvSpPr>
          <p:cNvPr id="20" name="Google Shape;20;p1"/>
          <p:cNvSpPr/>
          <p:nvPr/>
        </p:nvSpPr>
        <p:spPr>
          <a:xfrm>
            <a:off x="731520" y="1828800"/>
            <a:ext cx="9601200" cy="1645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Calibri"/>
              <a:buNone/>
            </a:pPr>
            <a:r>
              <a:rPr b="1" i="0" lang="en-US" sz="4200" u="none" cap="none" strike="noStrike">
                <a:solidFill>
                  <a:srgbClr val="FFFFFF"/>
                </a:solidFill>
                <a:latin typeface="Calibri"/>
                <a:ea typeface="Calibri"/>
                <a:cs typeface="Calibri"/>
                <a:sym typeface="Calibri"/>
              </a:rPr>
              <a:t>Multi-Branch Retail Performance</a:t>
            </a:r>
            <a:endParaRPr b="0" i="0" sz="4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000"/>
              <a:buFont typeface="Calibri"/>
              <a:buNone/>
            </a:pPr>
            <a:r>
              <a:rPr b="1" i="0" lang="en-US" sz="4200" u="none" cap="none" strike="noStrike">
                <a:solidFill>
                  <a:srgbClr val="FFFFFF"/>
                </a:solidFill>
                <a:latin typeface="Calibri"/>
                <a:ea typeface="Calibri"/>
                <a:cs typeface="Calibri"/>
                <a:sym typeface="Calibri"/>
              </a:rPr>
              <a:t>&amp; Operations Intelligence</a:t>
            </a:r>
            <a:endParaRPr b="0" i="0" sz="4200" u="none" cap="none" strike="noStrike">
              <a:solidFill>
                <a:schemeClr val="dk1"/>
              </a:solidFill>
              <a:latin typeface="Calibri"/>
              <a:ea typeface="Calibri"/>
              <a:cs typeface="Calibri"/>
              <a:sym typeface="Calibri"/>
            </a:endParaRPr>
          </a:p>
        </p:txBody>
      </p:sp>
      <p:sp>
        <p:nvSpPr>
          <p:cNvPr id="21" name="Google Shape;21;p1"/>
          <p:cNvSpPr/>
          <p:nvPr/>
        </p:nvSpPr>
        <p:spPr>
          <a:xfrm>
            <a:off x="731520" y="3520440"/>
            <a:ext cx="9144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6EA"/>
              </a:buClr>
              <a:buSzPts val="1600"/>
              <a:buFont typeface="Calibri"/>
              <a:buNone/>
            </a:pPr>
            <a:r>
              <a:rPr b="0" i="0" lang="en-US" sz="1800" u="none" cap="none" strike="noStrike">
                <a:solidFill>
                  <a:srgbClr val="C9D6EA"/>
                </a:solidFill>
                <a:latin typeface="Calibri"/>
                <a:ea typeface="Calibri"/>
                <a:cs typeface="Calibri"/>
                <a:sym typeface="Calibri"/>
              </a:rPr>
              <a:t>Excel  •  MySQL  •  SQL  •  Power BI  •  DAX</a:t>
            </a:r>
            <a:endParaRPr b="0" i="0" sz="1800" u="none" cap="none" strike="noStrike">
              <a:solidFill>
                <a:schemeClr val="dk1"/>
              </a:solidFill>
              <a:latin typeface="Calibri"/>
              <a:ea typeface="Calibri"/>
              <a:cs typeface="Calibri"/>
              <a:sym typeface="Calibri"/>
            </a:endParaRPr>
          </a:p>
        </p:txBody>
      </p:sp>
      <p:sp>
        <p:nvSpPr>
          <p:cNvPr id="22" name="Google Shape;22;p1"/>
          <p:cNvSpPr/>
          <p:nvPr/>
        </p:nvSpPr>
        <p:spPr>
          <a:xfrm>
            <a:off x="731520" y="3977640"/>
            <a:ext cx="9144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FB3D6"/>
              </a:buClr>
              <a:buSzPts val="1400"/>
              <a:buFont typeface="Calibri"/>
              <a:buNone/>
            </a:pPr>
            <a:r>
              <a:rPr b="0" i="0" lang="en-US" sz="1600" u="none" cap="none" strike="noStrike">
                <a:solidFill>
                  <a:srgbClr val="9FB3D6"/>
                </a:solidFill>
                <a:latin typeface="Calibri"/>
                <a:ea typeface="Calibri"/>
                <a:cs typeface="Calibri"/>
                <a:sym typeface="Calibri"/>
              </a:rPr>
              <a:t>Mumbai   |   Pune   |   Delhi   |   Bangalore</a:t>
            </a:r>
            <a:endParaRPr b="0" i="0" sz="1600" u="none" cap="none" strike="noStrike">
              <a:solidFill>
                <a:schemeClr val="dk1"/>
              </a:solidFill>
              <a:latin typeface="Calibri"/>
              <a:ea typeface="Calibri"/>
              <a:cs typeface="Calibri"/>
              <a:sym typeface="Calibri"/>
            </a:endParaRPr>
          </a:p>
        </p:txBody>
      </p:sp>
      <p:sp>
        <p:nvSpPr>
          <p:cNvPr id="23" name="Google Shape;23;p1"/>
          <p:cNvSpPr/>
          <p:nvPr/>
        </p:nvSpPr>
        <p:spPr>
          <a:xfrm>
            <a:off x="731520" y="4846320"/>
            <a:ext cx="1463040" cy="27432"/>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731520" y="5074920"/>
            <a:ext cx="54864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900" u="none" cap="none" strike="noStrike">
                <a:solidFill>
                  <a:srgbClr val="FFFFFF"/>
                </a:solidFill>
                <a:latin typeface="Calibri"/>
                <a:ea typeface="Calibri"/>
                <a:cs typeface="Calibri"/>
                <a:sym typeface="Calibri"/>
              </a:rPr>
              <a:t>Abhirami Ananthakumar</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D6EA"/>
              </a:buClr>
              <a:buSzPts val="1200"/>
              <a:buFont typeface="Calibri"/>
              <a:buNone/>
            </a:pPr>
            <a:r>
              <a:rPr b="0" i="0" lang="en-US" sz="1700" u="none" cap="none" strike="noStrike">
                <a:solidFill>
                  <a:srgbClr val="C9D6EA"/>
                </a:solidFill>
                <a:latin typeface="Calibri"/>
                <a:ea typeface="Calibri"/>
                <a:cs typeface="Calibri"/>
                <a:sym typeface="Calibri"/>
              </a:rPr>
              <a:t>Data Analyst</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OVERVIEW</a:t>
            </a:r>
            <a:endParaRPr b="0" i="0" sz="1300" u="none" cap="none" strike="noStrike">
              <a:solidFill>
                <a:schemeClr val="dk1"/>
              </a:solidFill>
              <a:latin typeface="Calibri"/>
              <a:ea typeface="Calibri"/>
              <a:cs typeface="Calibri"/>
              <a:sym typeface="Calibri"/>
            </a:endParaRPr>
          </a:p>
        </p:txBody>
      </p:sp>
      <p:sp>
        <p:nvSpPr>
          <p:cNvPr id="31" name="Google Shape;31;p2"/>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Executive Summary</a:t>
            </a:r>
            <a:endParaRPr b="0" i="0" sz="3000" u="none" cap="none" strike="noStrike">
              <a:solidFill>
                <a:schemeClr val="dk1"/>
              </a:solidFill>
              <a:latin typeface="Calibri"/>
              <a:ea typeface="Calibri"/>
              <a:cs typeface="Calibri"/>
              <a:sym typeface="Calibri"/>
            </a:endParaRPr>
          </a:p>
        </p:txBody>
      </p:sp>
      <p:sp>
        <p:nvSpPr>
          <p:cNvPr id="32" name="Google Shape;32;p2"/>
          <p:cNvSpPr/>
          <p:nvPr/>
        </p:nvSpPr>
        <p:spPr>
          <a:xfrm>
            <a:off x="548640" y="1554480"/>
            <a:ext cx="676656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450"/>
              <a:buFont typeface="Calibri"/>
              <a:buNone/>
            </a:pPr>
            <a:r>
              <a:rPr b="0" i="0" lang="en-US" sz="1450" u="none" cap="none" strike="noStrike">
                <a:solidFill>
                  <a:srgbClr val="0D1B2A"/>
                </a:solidFill>
                <a:latin typeface="Calibri"/>
                <a:ea typeface="Calibri"/>
                <a:cs typeface="Calibri"/>
                <a:sym typeface="Calibri"/>
              </a:rPr>
              <a:t>This initiative establishes a comprehensive operational intelligence framework for retail enterprises across four major urban centers, transforming raw retail data into an interactive BI solution covering sales, store performance, products, customers, shipments, returns and refunds.</a:t>
            </a:r>
            <a:endParaRPr b="0" i="0" sz="1450" u="none" cap="none" strike="noStrike">
              <a:solidFill>
                <a:schemeClr val="dk1"/>
              </a:solidFill>
              <a:latin typeface="Calibri"/>
              <a:ea typeface="Calibri"/>
              <a:cs typeface="Calibri"/>
              <a:sym typeface="Calibri"/>
            </a:endParaRPr>
          </a:p>
        </p:txBody>
      </p:sp>
      <p:sp>
        <p:nvSpPr>
          <p:cNvPr id="33" name="Google Shape;33;p2"/>
          <p:cNvSpPr/>
          <p:nvPr/>
        </p:nvSpPr>
        <p:spPr>
          <a:xfrm>
            <a:off x="548640" y="3063240"/>
            <a:ext cx="6766560" cy="219456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400"/>
              <a:buFont typeface="Calibri"/>
              <a:buChar char="▪"/>
            </a:pPr>
            <a:r>
              <a:rPr b="0" i="0" lang="en-US" sz="1400" u="none" cap="none" strike="noStrike">
                <a:solidFill>
                  <a:srgbClr val="0D1B2A"/>
                </a:solidFill>
                <a:latin typeface="Calibri"/>
                <a:ea typeface="Calibri"/>
                <a:cs typeface="Calibri"/>
                <a:sym typeface="Calibri"/>
              </a:rPr>
              <a:t>Initial profiling in Excel, structured analysis and validation in MySQL/SQL.</a:t>
            </a:r>
            <a:endParaRPr b="0" i="0" sz="140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400"/>
              <a:buFont typeface="Calibri"/>
              <a:buChar char="▪"/>
            </a:pPr>
            <a:r>
              <a:rPr b="0" i="0" lang="en-US" sz="1400" u="none" cap="none" strike="noStrike">
                <a:solidFill>
                  <a:srgbClr val="0D1B2A"/>
                </a:solidFill>
                <a:latin typeface="Calibri"/>
                <a:ea typeface="Calibri"/>
                <a:cs typeface="Calibri"/>
                <a:sym typeface="Calibri"/>
              </a:rPr>
              <a:t>Power BI + DAX for data modeling, KPI development and interactive reporting.</a:t>
            </a:r>
            <a:endParaRPr b="0" i="0" sz="140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400"/>
              <a:buFont typeface="Calibri"/>
              <a:buChar char="▪"/>
            </a:pPr>
            <a:r>
              <a:rPr b="0" i="0" lang="en-US" sz="1400" u="none" cap="none" strike="noStrike">
                <a:solidFill>
                  <a:srgbClr val="0D1B2A"/>
                </a:solidFill>
                <a:latin typeface="Calibri"/>
                <a:ea typeface="Calibri"/>
                <a:cs typeface="Calibri"/>
                <a:sym typeface="Calibri"/>
              </a:rPr>
              <a:t>Five management-ready dashboards, each independently validated against SQL.</a:t>
            </a:r>
            <a:endParaRPr b="0" i="0" sz="140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400"/>
              <a:buFont typeface="Calibri"/>
              <a:buChar char="▪"/>
            </a:pPr>
            <a:r>
              <a:rPr b="0" i="0" lang="en-US" sz="1400" u="none" cap="none" strike="noStrike">
                <a:solidFill>
                  <a:srgbClr val="0D1B2A"/>
                </a:solidFill>
                <a:latin typeface="Calibri"/>
                <a:ea typeface="Calibri"/>
                <a:cs typeface="Calibri"/>
                <a:sym typeface="Calibri"/>
              </a:rPr>
              <a:t>Findings translated into prioritized business recommendations.</a:t>
            </a:r>
            <a:endParaRPr b="0" i="0" sz="1400" u="none" cap="none" strike="noStrike">
              <a:solidFill>
                <a:schemeClr val="dk1"/>
              </a:solidFill>
              <a:latin typeface="Calibri"/>
              <a:ea typeface="Calibri"/>
              <a:cs typeface="Calibri"/>
              <a:sym typeface="Calibri"/>
            </a:endParaRPr>
          </a:p>
        </p:txBody>
      </p:sp>
      <p:sp>
        <p:nvSpPr>
          <p:cNvPr id="34" name="Google Shape;34;p2"/>
          <p:cNvSpPr/>
          <p:nvPr/>
        </p:nvSpPr>
        <p:spPr>
          <a:xfrm>
            <a:off x="7680960" y="1554480"/>
            <a:ext cx="1965960" cy="1051560"/>
          </a:xfrm>
          <a:prstGeom prst="roundRect">
            <a:avLst>
              <a:gd fmla="val 6957" name="adj"/>
            </a:avLst>
          </a:prstGeom>
          <a:solidFill>
            <a:srgbClr val="EEF3FA"/>
          </a:solidFill>
          <a:ln cap="flat" cmpd="sng" w="12700">
            <a:solidFill>
              <a:srgbClr val="D7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7726680" y="1664208"/>
            <a:ext cx="1874520" cy="578358"/>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2E74B5"/>
              </a:buClr>
              <a:buSzPts val="2200"/>
              <a:buFont typeface="Calibri"/>
              <a:buNone/>
            </a:pPr>
            <a:r>
              <a:rPr b="1" i="0" lang="en-US" sz="2200" u="none" cap="none" strike="noStrike">
                <a:solidFill>
                  <a:srgbClr val="2E74B5"/>
                </a:solidFill>
                <a:latin typeface="Calibri"/>
                <a:ea typeface="Calibri"/>
                <a:cs typeface="Calibri"/>
                <a:sym typeface="Calibri"/>
              </a:rPr>
              <a:t>$3.83B</a:t>
            </a:r>
            <a:endParaRPr b="0" i="0" sz="2200" u="none" cap="none" strike="noStrike">
              <a:solidFill>
                <a:schemeClr val="dk1"/>
              </a:solidFill>
              <a:latin typeface="Calibri"/>
              <a:ea typeface="Calibri"/>
              <a:cs typeface="Calibri"/>
              <a:sym typeface="Calibri"/>
            </a:endParaRPr>
          </a:p>
        </p:txBody>
      </p:sp>
      <p:sp>
        <p:nvSpPr>
          <p:cNvPr id="36" name="Google Shape;36;p2"/>
          <p:cNvSpPr/>
          <p:nvPr/>
        </p:nvSpPr>
        <p:spPr>
          <a:xfrm>
            <a:off x="7726680" y="2185416"/>
            <a:ext cx="1874520" cy="39959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470"/>
              </a:buClr>
              <a:buSzPts val="1050"/>
              <a:buFont typeface="Calibri"/>
              <a:buNone/>
            </a:pPr>
            <a:r>
              <a:rPr b="0" i="0" lang="en-US" sz="1050" u="none" cap="none" strike="noStrike">
                <a:solidFill>
                  <a:srgbClr val="5B6470"/>
                </a:solidFill>
                <a:latin typeface="Calibri"/>
                <a:ea typeface="Calibri"/>
                <a:cs typeface="Calibri"/>
                <a:sym typeface="Calibri"/>
              </a:rPr>
              <a:t>Gross Sales</a:t>
            </a:r>
            <a:endParaRPr b="0" i="0" sz="1050" u="none" cap="none" strike="noStrike">
              <a:solidFill>
                <a:schemeClr val="dk1"/>
              </a:solidFill>
              <a:latin typeface="Calibri"/>
              <a:ea typeface="Calibri"/>
              <a:cs typeface="Calibri"/>
              <a:sym typeface="Calibri"/>
            </a:endParaRPr>
          </a:p>
        </p:txBody>
      </p:sp>
      <p:sp>
        <p:nvSpPr>
          <p:cNvPr id="37" name="Google Shape;37;p2"/>
          <p:cNvSpPr/>
          <p:nvPr/>
        </p:nvSpPr>
        <p:spPr>
          <a:xfrm>
            <a:off x="9784080" y="1554480"/>
            <a:ext cx="1965960" cy="1051560"/>
          </a:xfrm>
          <a:prstGeom prst="roundRect">
            <a:avLst>
              <a:gd fmla="val 6957" name="adj"/>
            </a:avLst>
          </a:prstGeom>
          <a:solidFill>
            <a:srgbClr val="EEF3FA"/>
          </a:solidFill>
          <a:ln cap="flat" cmpd="sng" w="12700">
            <a:solidFill>
              <a:srgbClr val="D7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9829800" y="1664208"/>
            <a:ext cx="1874520" cy="578358"/>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2E74B5"/>
              </a:buClr>
              <a:buSzPts val="2200"/>
              <a:buFont typeface="Calibri"/>
              <a:buNone/>
            </a:pPr>
            <a:r>
              <a:rPr b="1" i="0" lang="en-US" sz="2200" u="none" cap="none" strike="noStrike">
                <a:solidFill>
                  <a:srgbClr val="2E74B5"/>
                </a:solidFill>
                <a:latin typeface="Calibri"/>
                <a:ea typeface="Calibri"/>
                <a:cs typeface="Calibri"/>
                <a:sym typeface="Calibri"/>
              </a:rPr>
              <a:t>29.77%</a:t>
            </a:r>
            <a:endParaRPr b="0" i="0" sz="2200" u="none" cap="none" strike="noStrike">
              <a:solidFill>
                <a:schemeClr val="dk1"/>
              </a:solidFill>
              <a:latin typeface="Calibri"/>
              <a:ea typeface="Calibri"/>
              <a:cs typeface="Calibri"/>
              <a:sym typeface="Calibri"/>
            </a:endParaRPr>
          </a:p>
        </p:txBody>
      </p:sp>
      <p:sp>
        <p:nvSpPr>
          <p:cNvPr id="39" name="Google Shape;39;p2"/>
          <p:cNvSpPr/>
          <p:nvPr/>
        </p:nvSpPr>
        <p:spPr>
          <a:xfrm>
            <a:off x="9829800" y="2185416"/>
            <a:ext cx="1874520" cy="39959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470"/>
              </a:buClr>
              <a:buSzPts val="1050"/>
              <a:buFont typeface="Calibri"/>
              <a:buNone/>
            </a:pPr>
            <a:r>
              <a:rPr b="0" i="0" lang="en-US" sz="1050" u="none" cap="none" strike="noStrike">
                <a:solidFill>
                  <a:srgbClr val="5B6470"/>
                </a:solidFill>
                <a:latin typeface="Calibri"/>
                <a:ea typeface="Calibri"/>
                <a:cs typeface="Calibri"/>
                <a:sym typeface="Calibri"/>
              </a:rPr>
              <a:t>YoY Growth</a:t>
            </a:r>
            <a:endParaRPr b="0" i="0" sz="1050" u="none" cap="none" strike="noStrike">
              <a:solidFill>
                <a:schemeClr val="dk1"/>
              </a:solidFill>
              <a:latin typeface="Calibri"/>
              <a:ea typeface="Calibri"/>
              <a:cs typeface="Calibri"/>
              <a:sym typeface="Calibri"/>
            </a:endParaRPr>
          </a:p>
        </p:txBody>
      </p:sp>
      <p:sp>
        <p:nvSpPr>
          <p:cNvPr id="40" name="Google Shape;40;p2"/>
          <p:cNvSpPr/>
          <p:nvPr/>
        </p:nvSpPr>
        <p:spPr>
          <a:xfrm>
            <a:off x="7680960" y="2743200"/>
            <a:ext cx="1965960" cy="1051560"/>
          </a:xfrm>
          <a:prstGeom prst="roundRect">
            <a:avLst>
              <a:gd fmla="val 6957" name="adj"/>
            </a:avLst>
          </a:prstGeom>
          <a:solidFill>
            <a:srgbClr val="EEF3FA"/>
          </a:solidFill>
          <a:ln cap="flat" cmpd="sng" w="12700">
            <a:solidFill>
              <a:srgbClr val="D7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7726680" y="2852928"/>
            <a:ext cx="1874520" cy="578358"/>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2E74B5"/>
              </a:buClr>
              <a:buSzPts val="2200"/>
              <a:buFont typeface="Calibri"/>
              <a:buNone/>
            </a:pPr>
            <a:r>
              <a:rPr b="1" i="0" lang="en-US" sz="2200" u="none" cap="none" strike="noStrike">
                <a:solidFill>
                  <a:srgbClr val="2E74B5"/>
                </a:solidFill>
                <a:latin typeface="Calibri"/>
                <a:ea typeface="Calibri"/>
                <a:cs typeface="Calibri"/>
                <a:sym typeface="Calibri"/>
              </a:rPr>
              <a:t>₹12.76K</a:t>
            </a:r>
            <a:endParaRPr b="0" i="0" sz="2200" u="none" cap="none" strike="noStrike">
              <a:solidFill>
                <a:schemeClr val="dk1"/>
              </a:solidFill>
              <a:latin typeface="Calibri"/>
              <a:ea typeface="Calibri"/>
              <a:cs typeface="Calibri"/>
              <a:sym typeface="Calibri"/>
            </a:endParaRPr>
          </a:p>
        </p:txBody>
      </p:sp>
      <p:sp>
        <p:nvSpPr>
          <p:cNvPr id="42" name="Google Shape;42;p2"/>
          <p:cNvSpPr/>
          <p:nvPr/>
        </p:nvSpPr>
        <p:spPr>
          <a:xfrm>
            <a:off x="7726680" y="3374136"/>
            <a:ext cx="1874520" cy="39959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470"/>
              </a:buClr>
              <a:buSzPts val="1050"/>
              <a:buFont typeface="Calibri"/>
              <a:buNone/>
            </a:pPr>
            <a:r>
              <a:rPr b="0" i="0" lang="en-US" sz="1050" u="none" cap="none" strike="noStrike">
                <a:solidFill>
                  <a:srgbClr val="5B6470"/>
                </a:solidFill>
                <a:latin typeface="Calibri"/>
                <a:ea typeface="Calibri"/>
                <a:cs typeface="Calibri"/>
                <a:sym typeface="Calibri"/>
              </a:rPr>
              <a:t>AOV</a:t>
            </a:r>
            <a:endParaRPr b="0" i="0" sz="1050" u="none" cap="none" strike="noStrike">
              <a:solidFill>
                <a:schemeClr val="dk1"/>
              </a:solidFill>
              <a:latin typeface="Calibri"/>
              <a:ea typeface="Calibri"/>
              <a:cs typeface="Calibri"/>
              <a:sym typeface="Calibri"/>
            </a:endParaRPr>
          </a:p>
        </p:txBody>
      </p:sp>
      <p:sp>
        <p:nvSpPr>
          <p:cNvPr id="43" name="Google Shape;43;p2"/>
          <p:cNvSpPr/>
          <p:nvPr/>
        </p:nvSpPr>
        <p:spPr>
          <a:xfrm>
            <a:off x="9784080" y="2743200"/>
            <a:ext cx="1965960" cy="1051560"/>
          </a:xfrm>
          <a:prstGeom prst="roundRect">
            <a:avLst>
              <a:gd fmla="val 6957" name="adj"/>
            </a:avLst>
          </a:prstGeom>
          <a:solidFill>
            <a:srgbClr val="EEF3FA"/>
          </a:solidFill>
          <a:ln cap="flat" cmpd="sng" w="12700">
            <a:solidFill>
              <a:srgbClr val="D7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9829800" y="2852928"/>
            <a:ext cx="1874520" cy="578358"/>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2E74B5"/>
              </a:buClr>
              <a:buSzPts val="2200"/>
              <a:buFont typeface="Calibri"/>
              <a:buNone/>
            </a:pPr>
            <a:r>
              <a:rPr b="1" i="0" lang="en-US" sz="2200" u="none" cap="none" strike="noStrike">
                <a:solidFill>
                  <a:srgbClr val="2E74B5"/>
                </a:solidFill>
                <a:latin typeface="Calibri"/>
                <a:ea typeface="Calibri"/>
                <a:cs typeface="Calibri"/>
                <a:sym typeface="Calibri"/>
              </a:rPr>
              <a:t>50K</a:t>
            </a:r>
            <a:endParaRPr b="0" i="0" sz="2200" u="none" cap="none" strike="noStrike">
              <a:solidFill>
                <a:schemeClr val="dk1"/>
              </a:solidFill>
              <a:latin typeface="Calibri"/>
              <a:ea typeface="Calibri"/>
              <a:cs typeface="Calibri"/>
              <a:sym typeface="Calibri"/>
            </a:endParaRPr>
          </a:p>
        </p:txBody>
      </p:sp>
      <p:sp>
        <p:nvSpPr>
          <p:cNvPr id="45" name="Google Shape;45;p2"/>
          <p:cNvSpPr/>
          <p:nvPr/>
        </p:nvSpPr>
        <p:spPr>
          <a:xfrm>
            <a:off x="9829800" y="3374136"/>
            <a:ext cx="1874520" cy="39959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470"/>
              </a:buClr>
              <a:buSzPts val="1050"/>
              <a:buFont typeface="Calibri"/>
              <a:buNone/>
            </a:pPr>
            <a:r>
              <a:rPr b="0" i="0" lang="en-US" sz="1050" u="none" cap="none" strike="noStrike">
                <a:solidFill>
                  <a:srgbClr val="5B6470"/>
                </a:solidFill>
                <a:latin typeface="Calibri"/>
                <a:ea typeface="Calibri"/>
                <a:cs typeface="Calibri"/>
                <a:sym typeface="Calibri"/>
              </a:rPr>
              <a:t>Customers</a:t>
            </a:r>
            <a:endParaRPr b="0" i="0" sz="1050" u="none" cap="none" strike="noStrike">
              <a:solidFill>
                <a:schemeClr val="dk1"/>
              </a:solidFill>
              <a:latin typeface="Calibri"/>
              <a:ea typeface="Calibri"/>
              <a:cs typeface="Calibri"/>
              <a:sym typeface="Calibri"/>
            </a:endParaRPr>
          </a:p>
        </p:txBody>
      </p:sp>
      <p:sp>
        <p:nvSpPr>
          <p:cNvPr id="46" name="Google Shape;46;p2"/>
          <p:cNvSpPr/>
          <p:nvPr/>
        </p:nvSpPr>
        <p:spPr>
          <a:xfrm>
            <a:off x="7680960" y="3931920"/>
            <a:ext cx="1965960" cy="1051560"/>
          </a:xfrm>
          <a:prstGeom prst="roundRect">
            <a:avLst>
              <a:gd fmla="val 6957" name="adj"/>
            </a:avLst>
          </a:prstGeom>
          <a:solidFill>
            <a:srgbClr val="EEF3FA"/>
          </a:solidFill>
          <a:ln cap="flat" cmpd="sng" w="12700">
            <a:solidFill>
              <a:srgbClr val="D7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7726680" y="4041648"/>
            <a:ext cx="1874520" cy="578358"/>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2E74B5"/>
              </a:buClr>
              <a:buSzPts val="2200"/>
              <a:buFont typeface="Calibri"/>
              <a:buNone/>
            </a:pPr>
            <a:r>
              <a:rPr b="1" i="0" lang="en-US" sz="2200" u="none" cap="none" strike="noStrike">
                <a:solidFill>
                  <a:srgbClr val="2E74B5"/>
                </a:solidFill>
                <a:latin typeface="Calibri"/>
                <a:ea typeface="Calibri"/>
                <a:cs typeface="Calibri"/>
                <a:sym typeface="Calibri"/>
              </a:rPr>
              <a:t>98.56%</a:t>
            </a:r>
            <a:endParaRPr b="0" i="0" sz="2200" u="none" cap="none" strike="noStrike">
              <a:solidFill>
                <a:schemeClr val="dk1"/>
              </a:solidFill>
              <a:latin typeface="Calibri"/>
              <a:ea typeface="Calibri"/>
              <a:cs typeface="Calibri"/>
              <a:sym typeface="Calibri"/>
            </a:endParaRPr>
          </a:p>
        </p:txBody>
      </p:sp>
      <p:sp>
        <p:nvSpPr>
          <p:cNvPr id="48" name="Google Shape;48;p2"/>
          <p:cNvSpPr/>
          <p:nvPr/>
        </p:nvSpPr>
        <p:spPr>
          <a:xfrm>
            <a:off x="7726680" y="4562856"/>
            <a:ext cx="1874520" cy="39959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470"/>
              </a:buClr>
              <a:buSzPts val="1050"/>
              <a:buFont typeface="Calibri"/>
              <a:buNone/>
            </a:pPr>
            <a:r>
              <a:rPr b="0" i="0" lang="en-US" sz="1050" u="none" cap="none" strike="noStrike">
                <a:solidFill>
                  <a:srgbClr val="5B6470"/>
                </a:solidFill>
                <a:latin typeface="Calibri"/>
                <a:ea typeface="Calibri"/>
                <a:cs typeface="Calibri"/>
                <a:sym typeface="Calibri"/>
              </a:rPr>
              <a:t>Repeat Rate</a:t>
            </a:r>
            <a:endParaRPr b="0" i="0" sz="1050" u="none" cap="none" strike="noStrike">
              <a:solidFill>
                <a:schemeClr val="dk1"/>
              </a:solidFill>
              <a:latin typeface="Calibri"/>
              <a:ea typeface="Calibri"/>
              <a:cs typeface="Calibri"/>
              <a:sym typeface="Calibri"/>
            </a:endParaRPr>
          </a:p>
        </p:txBody>
      </p:sp>
      <p:sp>
        <p:nvSpPr>
          <p:cNvPr id="49" name="Google Shape;49;p2"/>
          <p:cNvSpPr/>
          <p:nvPr/>
        </p:nvSpPr>
        <p:spPr>
          <a:xfrm>
            <a:off x="9784080" y="3931920"/>
            <a:ext cx="1965960" cy="1051560"/>
          </a:xfrm>
          <a:prstGeom prst="roundRect">
            <a:avLst>
              <a:gd fmla="val 6957" name="adj"/>
            </a:avLst>
          </a:prstGeom>
          <a:solidFill>
            <a:srgbClr val="EEF3FA"/>
          </a:solidFill>
          <a:ln cap="flat" cmpd="sng" w="12700">
            <a:solidFill>
              <a:srgbClr val="D7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9829800" y="4041648"/>
            <a:ext cx="1874520" cy="578358"/>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2E74B5"/>
              </a:buClr>
              <a:buSzPts val="2200"/>
              <a:buFont typeface="Calibri"/>
              <a:buNone/>
            </a:pPr>
            <a:r>
              <a:rPr b="1" i="0" lang="en-US" sz="2200" u="none" cap="none" strike="noStrike">
                <a:solidFill>
                  <a:srgbClr val="2E74B5"/>
                </a:solidFill>
                <a:latin typeface="Calibri"/>
                <a:ea typeface="Calibri"/>
                <a:cs typeface="Calibri"/>
                <a:sym typeface="Calibri"/>
              </a:rPr>
              <a:t>5</a:t>
            </a:r>
            <a:endParaRPr b="0" i="0" sz="2200" u="none" cap="none" strike="noStrike">
              <a:solidFill>
                <a:schemeClr val="dk1"/>
              </a:solidFill>
              <a:latin typeface="Calibri"/>
              <a:ea typeface="Calibri"/>
              <a:cs typeface="Calibri"/>
              <a:sym typeface="Calibri"/>
            </a:endParaRPr>
          </a:p>
        </p:txBody>
      </p:sp>
      <p:sp>
        <p:nvSpPr>
          <p:cNvPr id="51" name="Google Shape;51;p2"/>
          <p:cNvSpPr/>
          <p:nvPr/>
        </p:nvSpPr>
        <p:spPr>
          <a:xfrm>
            <a:off x="9829800" y="4562856"/>
            <a:ext cx="1874520" cy="39959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470"/>
              </a:buClr>
              <a:buSzPts val="1050"/>
              <a:buFont typeface="Calibri"/>
              <a:buNone/>
            </a:pPr>
            <a:r>
              <a:rPr b="0" i="0" lang="en-US" sz="1050" u="none" cap="none" strike="noStrike">
                <a:solidFill>
                  <a:srgbClr val="5B6470"/>
                </a:solidFill>
                <a:latin typeface="Calibri"/>
                <a:ea typeface="Calibri"/>
                <a:cs typeface="Calibri"/>
                <a:sym typeface="Calibri"/>
              </a:rPr>
              <a:t>Dashboards</a:t>
            </a:r>
            <a:endParaRPr b="0" i="0" sz="1050" u="none" cap="none" strike="noStrike">
              <a:solidFill>
                <a:schemeClr val="dk1"/>
              </a:solidFill>
              <a:latin typeface="Calibri"/>
              <a:ea typeface="Calibri"/>
              <a:cs typeface="Calibri"/>
              <a:sym typeface="Calibri"/>
            </a:endParaRPr>
          </a:p>
        </p:txBody>
      </p:sp>
      <p:sp>
        <p:nvSpPr>
          <p:cNvPr id="52" name="Google Shape;52;p2"/>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53" name="Google Shape;53;p2"/>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3"/>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BUSINESS CONTEXT</a:t>
            </a:r>
            <a:endParaRPr b="0" i="0" sz="1300" u="none" cap="none" strike="noStrike">
              <a:solidFill>
                <a:schemeClr val="dk1"/>
              </a:solidFill>
              <a:latin typeface="Calibri"/>
              <a:ea typeface="Calibri"/>
              <a:cs typeface="Calibri"/>
              <a:sym typeface="Calibri"/>
            </a:endParaRPr>
          </a:p>
        </p:txBody>
      </p:sp>
      <p:sp>
        <p:nvSpPr>
          <p:cNvPr id="60" name="Google Shape;60;p3"/>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Business Problem &amp; Objectives</a:t>
            </a:r>
            <a:endParaRPr b="0" i="0" sz="3000" u="none" cap="none" strike="noStrike">
              <a:solidFill>
                <a:schemeClr val="dk1"/>
              </a:solidFill>
              <a:latin typeface="Calibri"/>
              <a:ea typeface="Calibri"/>
              <a:cs typeface="Calibri"/>
              <a:sym typeface="Calibri"/>
            </a:endParaRPr>
          </a:p>
        </p:txBody>
      </p:sp>
      <p:sp>
        <p:nvSpPr>
          <p:cNvPr id="61" name="Google Shape;61;p3"/>
          <p:cNvSpPr/>
          <p:nvPr/>
        </p:nvSpPr>
        <p:spPr>
          <a:xfrm>
            <a:off x="548640" y="1600200"/>
            <a:ext cx="5394960" cy="4572000"/>
          </a:xfrm>
          <a:prstGeom prst="roundRect">
            <a:avLst>
              <a:gd fmla="val 1200" name="adj"/>
            </a:avLst>
          </a:prstGeom>
          <a:solidFill>
            <a:srgbClr val="EEF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822960" y="1828800"/>
            <a:ext cx="48463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BUSINESS PROBLEM</a:t>
            </a:r>
            <a:endParaRPr b="0" i="0" sz="1300" u="none" cap="none" strike="noStrike">
              <a:solidFill>
                <a:schemeClr val="dk1"/>
              </a:solidFill>
              <a:latin typeface="Calibri"/>
              <a:ea typeface="Calibri"/>
              <a:cs typeface="Calibri"/>
              <a:sym typeface="Calibri"/>
            </a:endParaRPr>
          </a:p>
        </p:txBody>
      </p:sp>
      <p:sp>
        <p:nvSpPr>
          <p:cNvPr id="63" name="Google Shape;63;p3"/>
          <p:cNvSpPr/>
          <p:nvPr/>
        </p:nvSpPr>
        <p:spPr>
          <a:xfrm>
            <a:off x="822960" y="2194560"/>
            <a:ext cx="4846320" cy="38404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Identify strongest and weakest cities/stores.</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Measure sales, orders, AOV and growth.</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Identify high-performing products and categories.</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Understand customer frequency, value and repeat behavior.</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Monitor shipment status and late delivery.</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Measure returns and refund value.</a:t>
            </a:r>
            <a:endParaRPr b="0" i="0" sz="1350" u="none" cap="none" strike="noStrike">
              <a:solidFill>
                <a:schemeClr val="dk1"/>
              </a:solidFill>
              <a:latin typeface="Calibri"/>
              <a:ea typeface="Calibri"/>
              <a:cs typeface="Calibri"/>
              <a:sym typeface="Calibri"/>
            </a:endParaRPr>
          </a:p>
        </p:txBody>
      </p:sp>
      <p:sp>
        <p:nvSpPr>
          <p:cNvPr id="64" name="Google Shape;64;p3"/>
          <p:cNvSpPr/>
          <p:nvPr/>
        </p:nvSpPr>
        <p:spPr>
          <a:xfrm>
            <a:off x="6217920" y="1600200"/>
            <a:ext cx="5440680" cy="4572000"/>
          </a:xfrm>
          <a:prstGeom prst="roundRect">
            <a:avLst>
              <a:gd fmla="val 1200" name="adj"/>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6492240" y="1828800"/>
            <a:ext cx="48463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300"/>
              <a:buFont typeface="Calibri"/>
              <a:buNone/>
            </a:pPr>
            <a:r>
              <a:rPr b="1" i="0" lang="en-US" sz="1300" u="none" cap="none" strike="noStrike">
                <a:solidFill>
                  <a:srgbClr val="C9A227"/>
                </a:solidFill>
                <a:latin typeface="Calibri"/>
                <a:ea typeface="Calibri"/>
                <a:cs typeface="Calibri"/>
                <a:sym typeface="Calibri"/>
              </a:rPr>
              <a:t>KEY OBJECTIVES</a:t>
            </a:r>
            <a:endParaRPr b="0" i="0" sz="1300" u="none" cap="none" strike="noStrike">
              <a:solidFill>
                <a:schemeClr val="dk1"/>
              </a:solidFill>
              <a:latin typeface="Calibri"/>
              <a:ea typeface="Calibri"/>
              <a:cs typeface="Calibri"/>
              <a:sym typeface="Calibri"/>
            </a:endParaRPr>
          </a:p>
        </p:txBody>
      </p:sp>
      <p:sp>
        <p:nvSpPr>
          <p:cNvPr id="66" name="Google Shape;66;p3"/>
          <p:cNvSpPr/>
          <p:nvPr/>
        </p:nvSpPr>
        <p:spPr>
          <a:xfrm>
            <a:off x="6492240" y="2194560"/>
            <a:ext cx="4846320" cy="38404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Compare Mumbai, Pune, Delhi &amp; Bangalore performance.</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Identify top products/categories and sales contribution.</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Analyze customer value, frequency and repeat behavior.</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Evaluate shipment performance and late-delivery patterns.</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Analyze returns/refunds for operational impact areas.</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Deliver validated, management-ready dashboards.</a:t>
            </a:r>
            <a:endParaRPr b="0" i="0" sz="1350" u="none" cap="none" strike="noStrike">
              <a:solidFill>
                <a:schemeClr val="dk1"/>
              </a:solidFill>
              <a:latin typeface="Calibri"/>
              <a:ea typeface="Calibri"/>
              <a:cs typeface="Calibri"/>
              <a:sym typeface="Calibri"/>
            </a:endParaRPr>
          </a:p>
        </p:txBody>
      </p:sp>
      <p:sp>
        <p:nvSpPr>
          <p:cNvPr id="67" name="Google Shape;67;p3"/>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68" name="Google Shape;68;p3"/>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4"/>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DATA FOUNDATION</a:t>
            </a:r>
            <a:endParaRPr b="0" i="0" sz="1300" u="none" cap="none" strike="noStrike">
              <a:solidFill>
                <a:schemeClr val="dk1"/>
              </a:solidFill>
              <a:latin typeface="Calibri"/>
              <a:ea typeface="Calibri"/>
              <a:cs typeface="Calibri"/>
              <a:sym typeface="Calibri"/>
            </a:endParaRPr>
          </a:p>
        </p:txBody>
      </p:sp>
      <p:sp>
        <p:nvSpPr>
          <p:cNvPr id="75" name="Google Shape;75;p4"/>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Dataset Overview</a:t>
            </a:r>
            <a:endParaRPr b="0" i="0" sz="3000" u="none" cap="none" strike="noStrike">
              <a:solidFill>
                <a:schemeClr val="dk1"/>
              </a:solidFill>
              <a:latin typeface="Calibri"/>
              <a:ea typeface="Calibri"/>
              <a:cs typeface="Calibri"/>
              <a:sym typeface="Calibri"/>
            </a:endParaRPr>
          </a:p>
        </p:txBody>
      </p:sp>
      <p:sp>
        <p:nvSpPr>
          <p:cNvPr id="76" name="Google Shape;76;p4"/>
          <p:cNvSpPr/>
          <p:nvPr/>
        </p:nvSpPr>
        <p:spPr>
          <a:xfrm>
            <a:off x="548640" y="150876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1400"/>
              <a:buFont typeface="Calibri"/>
              <a:buNone/>
            </a:pPr>
            <a:r>
              <a:rPr b="0" i="0" lang="en-US" sz="1400" u="none" cap="none" strike="noStrike">
                <a:solidFill>
                  <a:srgbClr val="5B6470"/>
                </a:solidFill>
                <a:latin typeface="Calibri"/>
                <a:ea typeface="Calibri"/>
                <a:cs typeface="Calibri"/>
                <a:sym typeface="Calibri"/>
              </a:rPr>
              <a:t>A 12-table retail data warehouse containing approximately 1.59 million records.</a:t>
            </a:r>
            <a:endParaRPr b="0" i="0" sz="1400" u="none" cap="none" strike="noStrike">
              <a:solidFill>
                <a:schemeClr val="dk1"/>
              </a:solidFill>
              <a:latin typeface="Calibri"/>
              <a:ea typeface="Calibri"/>
              <a:cs typeface="Calibri"/>
              <a:sym typeface="Calibri"/>
            </a:endParaRPr>
          </a:p>
        </p:txBody>
      </p:sp>
      <p:graphicFrame>
        <p:nvGraphicFramePr>
          <p:cNvPr id="77" name="Google Shape;77;p4"/>
          <p:cNvGraphicFramePr/>
          <p:nvPr/>
        </p:nvGraphicFramePr>
        <p:xfrm>
          <a:off x="548640" y="2011680"/>
          <a:ext cx="3000000" cy="3000000"/>
        </p:xfrm>
        <a:graphic>
          <a:graphicData uri="http://schemas.openxmlformats.org/drawingml/2006/table">
            <a:tbl>
              <a:tblPr>
                <a:noFill/>
                <a:tableStyleId>{91289AAA-7F23-49BC-BC7E-C14AFD6A27FA}</a:tableStyleId>
              </a:tblPr>
              <a:tblGrid>
                <a:gridCol w="2926075"/>
                <a:gridCol w="2011675"/>
              </a:tblGrid>
              <a:tr h="29260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rPr>
                        <a:t>Table</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1F3864"/>
                    </a:solidFill>
                  </a:tcPr>
                </a:tc>
                <a:tc>
                  <a:txBody>
                    <a:bodyPr/>
                    <a:lstStyle/>
                    <a:p>
                      <a:pPr indent="0" lvl="0" marL="0" marR="0" rtl="0" algn="r">
                        <a:spcBef>
                          <a:spcPts val="0"/>
                        </a:spcBef>
                        <a:spcAft>
                          <a:spcPts val="0"/>
                        </a:spcAft>
                        <a:buClr>
                          <a:srgbClr val="FFFFFF"/>
                        </a:buClr>
                        <a:buSzPts val="1150"/>
                        <a:buFont typeface="Calibri"/>
                        <a:buNone/>
                      </a:pPr>
                      <a:r>
                        <a:rPr b="1" lang="en-US" sz="1150" u="none" cap="none" strike="noStrike">
                          <a:solidFill>
                            <a:srgbClr val="FFFFFF"/>
                          </a:solidFill>
                        </a:rPr>
                        <a:t>Records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1F3864"/>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Categories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30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Customers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50,000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Employee</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1,000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Order Items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600,000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Orders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300,000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Payments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300,000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Products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10,000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Promotions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50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Returns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30,000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Shipments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300,000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Stores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100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0D1B2A"/>
                        </a:buClr>
                        <a:buSzPts val="1150"/>
                        <a:buFont typeface="Calibri"/>
                        <a:buNone/>
                      </a:pPr>
                      <a:r>
                        <a:rPr lang="en-US" sz="1150" u="none" cap="none" strike="noStrike">
                          <a:solidFill>
                            <a:srgbClr val="0D1B2A"/>
                          </a:solidFill>
                        </a:rPr>
                        <a:t>Suppliers</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150"/>
                        <a:buFont typeface="Calibri"/>
                        <a:buNone/>
                      </a:pPr>
                      <a:r>
                        <a:rPr lang="en-US" sz="1150" u="none" cap="none" strike="noStrike">
                          <a:solidFill>
                            <a:srgbClr val="0D1B2A"/>
                          </a:solidFill>
                        </a:rPr>
                        <a:t>200</a:t>
                      </a:r>
                      <a:endParaRPr sz="115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bl>
          </a:graphicData>
        </a:graphic>
      </p:graphicFrame>
      <p:sp>
        <p:nvSpPr>
          <p:cNvPr id="78" name="Google Shape;78;p4"/>
          <p:cNvSpPr/>
          <p:nvPr/>
        </p:nvSpPr>
        <p:spPr>
          <a:xfrm>
            <a:off x="5943600" y="2011680"/>
            <a:ext cx="5715000" cy="4160520"/>
          </a:xfrm>
          <a:prstGeom prst="roundRect">
            <a:avLst>
              <a:gd fmla="val 1319" name="adj"/>
            </a:avLst>
          </a:prstGeom>
          <a:solidFill>
            <a:srgbClr val="EEF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6217920" y="2240280"/>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TOTAL RECORDS</a:t>
            </a:r>
            <a:endParaRPr b="0" i="0" sz="1300" u="none" cap="none" strike="noStrike">
              <a:solidFill>
                <a:schemeClr val="dk1"/>
              </a:solidFill>
              <a:latin typeface="Calibri"/>
              <a:ea typeface="Calibri"/>
              <a:cs typeface="Calibri"/>
              <a:sym typeface="Calibri"/>
            </a:endParaRPr>
          </a:p>
        </p:txBody>
      </p:sp>
      <p:sp>
        <p:nvSpPr>
          <p:cNvPr id="80" name="Google Shape;80;p4"/>
          <p:cNvSpPr/>
          <p:nvPr/>
        </p:nvSpPr>
        <p:spPr>
          <a:xfrm>
            <a:off x="6217920" y="2606040"/>
            <a:ext cx="512064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400"/>
              <a:buFont typeface="Calibri"/>
              <a:buNone/>
            </a:pPr>
            <a:r>
              <a:rPr b="1" i="0" lang="en-US" sz="3400" u="none" cap="none" strike="noStrike">
                <a:solidFill>
                  <a:srgbClr val="1F3864"/>
                </a:solidFill>
                <a:latin typeface="Calibri"/>
                <a:ea typeface="Calibri"/>
                <a:cs typeface="Calibri"/>
                <a:sym typeface="Calibri"/>
              </a:rPr>
              <a:t>1,591,380</a:t>
            </a:r>
            <a:endParaRPr b="0" i="0" sz="3400" u="none" cap="none" strike="noStrike">
              <a:solidFill>
                <a:schemeClr val="dk1"/>
              </a:solidFill>
              <a:latin typeface="Calibri"/>
              <a:ea typeface="Calibri"/>
              <a:cs typeface="Calibri"/>
              <a:sym typeface="Calibri"/>
            </a:endParaRPr>
          </a:p>
        </p:txBody>
      </p:sp>
      <p:sp>
        <p:nvSpPr>
          <p:cNvPr id="81" name="Google Shape;81;p4"/>
          <p:cNvSpPr/>
          <p:nvPr/>
        </p:nvSpPr>
        <p:spPr>
          <a:xfrm>
            <a:off x="6217920" y="3520440"/>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CORE ANALYTICAL FLOW</a:t>
            </a:r>
            <a:endParaRPr b="0" i="0" sz="1300" u="none" cap="none" strike="noStrike">
              <a:solidFill>
                <a:schemeClr val="dk1"/>
              </a:solidFill>
              <a:latin typeface="Calibri"/>
              <a:ea typeface="Calibri"/>
              <a:cs typeface="Calibri"/>
              <a:sym typeface="Calibri"/>
            </a:endParaRPr>
          </a:p>
        </p:txBody>
      </p:sp>
      <p:sp>
        <p:nvSpPr>
          <p:cNvPr id="82" name="Google Shape;82;p4"/>
          <p:cNvSpPr/>
          <p:nvPr/>
        </p:nvSpPr>
        <p:spPr>
          <a:xfrm>
            <a:off x="6217920" y="3886200"/>
            <a:ext cx="5120640" cy="91440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Customers → Orders → Order Items → Returns</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Orders → Shipments</a:t>
            </a:r>
            <a:endParaRPr b="0" i="0" sz="1350" u="none" cap="none" strike="noStrike">
              <a:solidFill>
                <a:schemeClr val="dk1"/>
              </a:solidFill>
              <a:latin typeface="Calibri"/>
              <a:ea typeface="Calibri"/>
              <a:cs typeface="Calibri"/>
              <a:sym typeface="Calibri"/>
            </a:endParaRPr>
          </a:p>
        </p:txBody>
      </p:sp>
      <p:sp>
        <p:nvSpPr>
          <p:cNvPr id="83" name="Google Shape;83;p4"/>
          <p:cNvSpPr/>
          <p:nvPr/>
        </p:nvSpPr>
        <p:spPr>
          <a:xfrm>
            <a:off x="6217920" y="4892040"/>
            <a:ext cx="512064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470"/>
              </a:buClr>
              <a:buSzPts val="1150"/>
              <a:buFont typeface="Calibri"/>
              <a:buNone/>
            </a:pPr>
            <a:r>
              <a:rPr b="0" i="1" lang="en-US" sz="1150" u="none" cap="none" strike="noStrike">
                <a:solidFill>
                  <a:srgbClr val="5B6470"/>
                </a:solidFill>
                <a:latin typeface="Calibri"/>
                <a:ea typeface="Calibri"/>
                <a:cs typeface="Calibri"/>
                <a:sym typeface="Calibri"/>
              </a:rPr>
              <a:t>Relationship and filter propagation were tested during development, particularly for city-level shipment and return analysis.</a:t>
            </a:r>
            <a:endParaRPr b="0" i="0" sz="1150" u="none" cap="none" strike="noStrike">
              <a:solidFill>
                <a:schemeClr val="dk1"/>
              </a:solidFill>
              <a:latin typeface="Calibri"/>
              <a:ea typeface="Calibri"/>
              <a:cs typeface="Calibri"/>
              <a:sym typeface="Calibri"/>
            </a:endParaRPr>
          </a:p>
        </p:txBody>
      </p:sp>
      <p:sp>
        <p:nvSpPr>
          <p:cNvPr id="84" name="Google Shape;84;p4"/>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85" name="Google Shape;85;p4"/>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5"/>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METHODOLOGY</a:t>
            </a:r>
            <a:endParaRPr b="0" i="0" sz="1300" u="none" cap="none" strike="noStrike">
              <a:solidFill>
                <a:schemeClr val="dk1"/>
              </a:solidFill>
              <a:latin typeface="Calibri"/>
              <a:ea typeface="Calibri"/>
              <a:cs typeface="Calibri"/>
              <a:sym typeface="Calibri"/>
            </a:endParaRPr>
          </a:p>
        </p:txBody>
      </p:sp>
      <p:sp>
        <p:nvSpPr>
          <p:cNvPr id="92" name="Google Shape;92;p5"/>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Technology Stack &amp; Analytics Workflow</a:t>
            </a:r>
            <a:endParaRPr b="0" i="0" sz="3000" u="none" cap="none" strike="noStrike">
              <a:solidFill>
                <a:schemeClr val="dk1"/>
              </a:solidFill>
              <a:latin typeface="Calibri"/>
              <a:ea typeface="Calibri"/>
              <a:cs typeface="Calibri"/>
              <a:sym typeface="Calibri"/>
            </a:endParaRPr>
          </a:p>
        </p:txBody>
      </p:sp>
      <p:sp>
        <p:nvSpPr>
          <p:cNvPr id="93" name="Google Shape;93;p5"/>
          <p:cNvSpPr/>
          <p:nvPr/>
        </p:nvSpPr>
        <p:spPr>
          <a:xfrm>
            <a:off x="548640" y="1600200"/>
            <a:ext cx="1920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250"/>
              <a:buFont typeface="Calibri"/>
              <a:buNone/>
            </a:pPr>
            <a:r>
              <a:rPr b="1" i="0" lang="en-US" sz="1250" u="none" cap="none" strike="noStrike">
                <a:solidFill>
                  <a:srgbClr val="1F3864"/>
                </a:solidFill>
                <a:latin typeface="Calibri"/>
                <a:ea typeface="Calibri"/>
                <a:cs typeface="Calibri"/>
                <a:sym typeface="Calibri"/>
              </a:rPr>
              <a:t>Excel</a:t>
            </a:r>
            <a:endParaRPr b="0" i="0" sz="1250" u="none" cap="none" strike="noStrike">
              <a:solidFill>
                <a:schemeClr val="dk1"/>
              </a:solidFill>
              <a:latin typeface="Calibri"/>
              <a:ea typeface="Calibri"/>
              <a:cs typeface="Calibri"/>
              <a:sym typeface="Calibri"/>
            </a:endParaRPr>
          </a:p>
        </p:txBody>
      </p:sp>
      <p:sp>
        <p:nvSpPr>
          <p:cNvPr id="94" name="Google Shape;94;p5"/>
          <p:cNvSpPr/>
          <p:nvPr/>
        </p:nvSpPr>
        <p:spPr>
          <a:xfrm>
            <a:off x="2514600" y="160020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1100"/>
              <a:buFont typeface="Calibri"/>
              <a:buNone/>
            </a:pPr>
            <a:r>
              <a:rPr b="0" i="0" lang="en-US" sz="1100" u="none" cap="none" strike="noStrike">
                <a:solidFill>
                  <a:srgbClr val="5B6470"/>
                </a:solidFill>
                <a:latin typeface="Calibri"/>
                <a:ea typeface="Calibri"/>
                <a:cs typeface="Calibri"/>
                <a:sym typeface="Calibri"/>
              </a:rPr>
              <a:t>Initial data exploration</a:t>
            </a:r>
            <a:endParaRPr b="0" i="0" sz="1100" u="none" cap="none" strike="noStrike">
              <a:solidFill>
                <a:schemeClr val="dk1"/>
              </a:solidFill>
              <a:latin typeface="Calibri"/>
              <a:ea typeface="Calibri"/>
              <a:cs typeface="Calibri"/>
              <a:sym typeface="Calibri"/>
            </a:endParaRPr>
          </a:p>
        </p:txBody>
      </p:sp>
      <p:sp>
        <p:nvSpPr>
          <p:cNvPr id="95" name="Google Shape;95;p5"/>
          <p:cNvSpPr/>
          <p:nvPr/>
        </p:nvSpPr>
        <p:spPr>
          <a:xfrm>
            <a:off x="548640" y="2176272"/>
            <a:ext cx="1920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250"/>
              <a:buFont typeface="Calibri"/>
              <a:buNone/>
            </a:pPr>
            <a:r>
              <a:rPr b="1" i="0" lang="en-US" sz="1250" u="none" cap="none" strike="noStrike">
                <a:solidFill>
                  <a:srgbClr val="1F3864"/>
                </a:solidFill>
                <a:latin typeface="Calibri"/>
                <a:ea typeface="Calibri"/>
                <a:cs typeface="Calibri"/>
                <a:sym typeface="Calibri"/>
              </a:rPr>
              <a:t>MySQL 8.0</a:t>
            </a:r>
            <a:endParaRPr b="0" i="0" sz="1250" u="none" cap="none" strike="noStrike">
              <a:solidFill>
                <a:schemeClr val="dk1"/>
              </a:solidFill>
              <a:latin typeface="Calibri"/>
              <a:ea typeface="Calibri"/>
              <a:cs typeface="Calibri"/>
              <a:sym typeface="Calibri"/>
            </a:endParaRPr>
          </a:p>
        </p:txBody>
      </p:sp>
      <p:sp>
        <p:nvSpPr>
          <p:cNvPr id="96" name="Google Shape;96;p5"/>
          <p:cNvSpPr/>
          <p:nvPr/>
        </p:nvSpPr>
        <p:spPr>
          <a:xfrm>
            <a:off x="2514600" y="2176272"/>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1100"/>
              <a:buFont typeface="Calibri"/>
              <a:buNone/>
            </a:pPr>
            <a:r>
              <a:rPr b="0" i="0" lang="en-US" sz="1100" u="none" cap="none" strike="noStrike">
                <a:solidFill>
                  <a:srgbClr val="5B6470"/>
                </a:solidFill>
                <a:latin typeface="Calibri"/>
                <a:ea typeface="Calibri"/>
                <a:cs typeface="Calibri"/>
                <a:sym typeface="Calibri"/>
              </a:rPr>
              <a:t>Data warehouse querying, EDA, aggregation &amp; validation</a:t>
            </a:r>
            <a:endParaRPr b="0" i="0" sz="1100" u="none" cap="none" strike="noStrike">
              <a:solidFill>
                <a:schemeClr val="dk1"/>
              </a:solidFill>
              <a:latin typeface="Calibri"/>
              <a:ea typeface="Calibri"/>
              <a:cs typeface="Calibri"/>
              <a:sym typeface="Calibri"/>
            </a:endParaRPr>
          </a:p>
        </p:txBody>
      </p:sp>
      <p:sp>
        <p:nvSpPr>
          <p:cNvPr id="97" name="Google Shape;97;p5"/>
          <p:cNvSpPr/>
          <p:nvPr/>
        </p:nvSpPr>
        <p:spPr>
          <a:xfrm>
            <a:off x="548640" y="2752344"/>
            <a:ext cx="1920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250"/>
              <a:buFont typeface="Calibri"/>
              <a:buNone/>
            </a:pPr>
            <a:r>
              <a:rPr b="1" i="0" lang="en-US" sz="1250" u="none" cap="none" strike="noStrike">
                <a:solidFill>
                  <a:srgbClr val="1F3864"/>
                </a:solidFill>
                <a:latin typeface="Calibri"/>
                <a:ea typeface="Calibri"/>
                <a:cs typeface="Calibri"/>
                <a:sym typeface="Calibri"/>
              </a:rPr>
              <a:t>SQL</a:t>
            </a:r>
            <a:endParaRPr b="0" i="0" sz="1250" u="none" cap="none" strike="noStrike">
              <a:solidFill>
                <a:schemeClr val="dk1"/>
              </a:solidFill>
              <a:latin typeface="Calibri"/>
              <a:ea typeface="Calibri"/>
              <a:cs typeface="Calibri"/>
              <a:sym typeface="Calibri"/>
            </a:endParaRPr>
          </a:p>
        </p:txBody>
      </p:sp>
      <p:sp>
        <p:nvSpPr>
          <p:cNvPr id="98" name="Google Shape;98;p5"/>
          <p:cNvSpPr/>
          <p:nvPr/>
        </p:nvSpPr>
        <p:spPr>
          <a:xfrm>
            <a:off x="2514600" y="2752344"/>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1100"/>
              <a:buFont typeface="Calibri"/>
              <a:buNone/>
            </a:pPr>
            <a:r>
              <a:rPr b="0" i="0" lang="en-US" sz="1100" u="none" cap="none" strike="noStrike">
                <a:solidFill>
                  <a:srgbClr val="5B6470"/>
                </a:solidFill>
                <a:latin typeface="Calibri"/>
                <a:ea typeface="Calibri"/>
                <a:cs typeface="Calibri"/>
                <a:sym typeface="Calibri"/>
              </a:rPr>
              <a:t>EDA, joins, aggregations, distinct counts, KPI validation</a:t>
            </a:r>
            <a:endParaRPr b="0" i="0" sz="1100" u="none" cap="none" strike="noStrike">
              <a:solidFill>
                <a:schemeClr val="dk1"/>
              </a:solidFill>
              <a:latin typeface="Calibri"/>
              <a:ea typeface="Calibri"/>
              <a:cs typeface="Calibri"/>
              <a:sym typeface="Calibri"/>
            </a:endParaRPr>
          </a:p>
        </p:txBody>
      </p:sp>
      <p:sp>
        <p:nvSpPr>
          <p:cNvPr id="99" name="Google Shape;99;p5"/>
          <p:cNvSpPr/>
          <p:nvPr/>
        </p:nvSpPr>
        <p:spPr>
          <a:xfrm>
            <a:off x="548640" y="3328416"/>
            <a:ext cx="1920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250"/>
              <a:buFont typeface="Calibri"/>
              <a:buNone/>
            </a:pPr>
            <a:r>
              <a:rPr b="1" i="0" lang="en-US" sz="1250" u="none" cap="none" strike="noStrike">
                <a:solidFill>
                  <a:srgbClr val="1F3864"/>
                </a:solidFill>
                <a:latin typeface="Calibri"/>
                <a:ea typeface="Calibri"/>
                <a:cs typeface="Calibri"/>
                <a:sym typeface="Calibri"/>
              </a:rPr>
              <a:t>Power BI</a:t>
            </a:r>
            <a:endParaRPr b="0" i="0" sz="1250" u="none" cap="none" strike="noStrike">
              <a:solidFill>
                <a:schemeClr val="dk1"/>
              </a:solidFill>
              <a:latin typeface="Calibri"/>
              <a:ea typeface="Calibri"/>
              <a:cs typeface="Calibri"/>
              <a:sym typeface="Calibri"/>
            </a:endParaRPr>
          </a:p>
        </p:txBody>
      </p:sp>
      <p:sp>
        <p:nvSpPr>
          <p:cNvPr id="100" name="Google Shape;100;p5"/>
          <p:cNvSpPr/>
          <p:nvPr/>
        </p:nvSpPr>
        <p:spPr>
          <a:xfrm>
            <a:off x="2514600" y="3328416"/>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1100"/>
              <a:buFont typeface="Calibri"/>
              <a:buNone/>
            </a:pPr>
            <a:r>
              <a:rPr b="0" i="0" lang="en-US" sz="1100" u="none" cap="none" strike="noStrike">
                <a:solidFill>
                  <a:srgbClr val="5B6470"/>
                </a:solidFill>
                <a:latin typeface="Calibri"/>
                <a:ea typeface="Calibri"/>
                <a:cs typeface="Calibri"/>
                <a:sym typeface="Calibri"/>
              </a:rPr>
              <a:t>Data modeling, relationships, slicers &amp; dashboards</a:t>
            </a:r>
            <a:endParaRPr b="0" i="0" sz="1100" u="none" cap="none" strike="noStrike">
              <a:solidFill>
                <a:schemeClr val="dk1"/>
              </a:solidFill>
              <a:latin typeface="Calibri"/>
              <a:ea typeface="Calibri"/>
              <a:cs typeface="Calibri"/>
              <a:sym typeface="Calibri"/>
            </a:endParaRPr>
          </a:p>
        </p:txBody>
      </p:sp>
      <p:sp>
        <p:nvSpPr>
          <p:cNvPr id="101" name="Google Shape;101;p5"/>
          <p:cNvSpPr/>
          <p:nvPr/>
        </p:nvSpPr>
        <p:spPr>
          <a:xfrm>
            <a:off x="548640" y="3904488"/>
            <a:ext cx="1920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250"/>
              <a:buFont typeface="Calibri"/>
              <a:buNone/>
            </a:pPr>
            <a:r>
              <a:rPr b="1" i="0" lang="en-US" sz="1250" u="none" cap="none" strike="noStrike">
                <a:solidFill>
                  <a:srgbClr val="1F3864"/>
                </a:solidFill>
                <a:latin typeface="Calibri"/>
                <a:ea typeface="Calibri"/>
                <a:cs typeface="Calibri"/>
                <a:sym typeface="Calibri"/>
              </a:rPr>
              <a:t>DAX</a:t>
            </a:r>
            <a:endParaRPr b="0" i="0" sz="1250" u="none" cap="none" strike="noStrike">
              <a:solidFill>
                <a:schemeClr val="dk1"/>
              </a:solidFill>
              <a:latin typeface="Calibri"/>
              <a:ea typeface="Calibri"/>
              <a:cs typeface="Calibri"/>
              <a:sym typeface="Calibri"/>
            </a:endParaRPr>
          </a:p>
        </p:txBody>
      </p:sp>
      <p:sp>
        <p:nvSpPr>
          <p:cNvPr id="102" name="Google Shape;102;p5"/>
          <p:cNvSpPr/>
          <p:nvPr/>
        </p:nvSpPr>
        <p:spPr>
          <a:xfrm>
            <a:off x="2514600" y="3904488"/>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1100"/>
              <a:buFont typeface="Calibri"/>
              <a:buNone/>
            </a:pPr>
            <a:r>
              <a:rPr b="0" i="0" lang="en-US" sz="1100" u="none" cap="none" strike="noStrike">
                <a:solidFill>
                  <a:srgbClr val="5B6470"/>
                </a:solidFill>
                <a:latin typeface="Calibri"/>
                <a:ea typeface="Calibri"/>
                <a:cs typeface="Calibri"/>
                <a:sym typeface="Calibri"/>
              </a:rPr>
              <a:t>Reusable measures, ratios &amp; calculated columns</a:t>
            </a:r>
            <a:endParaRPr b="0" i="0" sz="1100" u="none" cap="none" strike="noStrike">
              <a:solidFill>
                <a:schemeClr val="dk1"/>
              </a:solidFill>
              <a:latin typeface="Calibri"/>
              <a:ea typeface="Calibri"/>
              <a:cs typeface="Calibri"/>
              <a:sym typeface="Calibri"/>
            </a:endParaRPr>
          </a:p>
        </p:txBody>
      </p:sp>
      <p:sp>
        <p:nvSpPr>
          <p:cNvPr id="103" name="Google Shape;103;p5"/>
          <p:cNvSpPr/>
          <p:nvPr/>
        </p:nvSpPr>
        <p:spPr>
          <a:xfrm>
            <a:off x="548640" y="4480560"/>
            <a:ext cx="1920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250"/>
              <a:buFont typeface="Calibri"/>
              <a:buNone/>
            </a:pPr>
            <a:r>
              <a:rPr b="1" i="0" lang="en-US" sz="1250" u="none" cap="none" strike="noStrike">
                <a:solidFill>
                  <a:srgbClr val="1F3864"/>
                </a:solidFill>
                <a:latin typeface="Calibri"/>
                <a:ea typeface="Calibri"/>
                <a:cs typeface="Calibri"/>
                <a:sym typeface="Calibri"/>
              </a:rPr>
              <a:t>Google Docs / Slides</a:t>
            </a:r>
            <a:endParaRPr b="0" i="0" sz="1250" u="none" cap="none" strike="noStrike">
              <a:solidFill>
                <a:schemeClr val="dk1"/>
              </a:solidFill>
              <a:latin typeface="Calibri"/>
              <a:ea typeface="Calibri"/>
              <a:cs typeface="Calibri"/>
              <a:sym typeface="Calibri"/>
            </a:endParaRPr>
          </a:p>
        </p:txBody>
      </p:sp>
      <p:sp>
        <p:nvSpPr>
          <p:cNvPr id="104" name="Google Shape;104;p5"/>
          <p:cNvSpPr/>
          <p:nvPr/>
        </p:nvSpPr>
        <p:spPr>
          <a:xfrm>
            <a:off x="2514600" y="448056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1100"/>
              <a:buFont typeface="Calibri"/>
              <a:buNone/>
            </a:pPr>
            <a:r>
              <a:rPr b="0" i="0" lang="en-US" sz="1100" u="none" cap="none" strike="noStrike">
                <a:solidFill>
                  <a:srgbClr val="5B6470"/>
                </a:solidFill>
                <a:latin typeface="Calibri"/>
                <a:ea typeface="Calibri"/>
                <a:cs typeface="Calibri"/>
                <a:sym typeface="Calibri"/>
              </a:rPr>
              <a:t>Documentation &amp; presentation</a:t>
            </a:r>
            <a:endParaRPr b="0" i="0" sz="1100" u="none" cap="none" strike="noStrike">
              <a:solidFill>
                <a:schemeClr val="dk1"/>
              </a:solidFill>
              <a:latin typeface="Calibri"/>
              <a:ea typeface="Calibri"/>
              <a:cs typeface="Calibri"/>
              <a:sym typeface="Calibri"/>
            </a:endParaRPr>
          </a:p>
        </p:txBody>
      </p:sp>
      <p:sp>
        <p:nvSpPr>
          <p:cNvPr id="105" name="Google Shape;105;p5"/>
          <p:cNvSpPr/>
          <p:nvPr/>
        </p:nvSpPr>
        <p:spPr>
          <a:xfrm>
            <a:off x="548640" y="5056632"/>
            <a:ext cx="1920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250"/>
              <a:buFont typeface="Calibri"/>
              <a:buNone/>
            </a:pPr>
            <a:r>
              <a:rPr b="1" i="0" lang="en-US" sz="1250" u="none" cap="none" strike="noStrike">
                <a:solidFill>
                  <a:srgbClr val="1F3864"/>
                </a:solidFill>
                <a:latin typeface="Calibri"/>
                <a:ea typeface="Calibri"/>
                <a:cs typeface="Calibri"/>
                <a:sym typeface="Calibri"/>
              </a:rPr>
              <a:t>GitHub</a:t>
            </a:r>
            <a:endParaRPr b="0" i="0" sz="1250" u="none" cap="none" strike="noStrike">
              <a:solidFill>
                <a:schemeClr val="dk1"/>
              </a:solidFill>
              <a:latin typeface="Calibri"/>
              <a:ea typeface="Calibri"/>
              <a:cs typeface="Calibri"/>
              <a:sym typeface="Calibri"/>
            </a:endParaRPr>
          </a:p>
        </p:txBody>
      </p:sp>
      <p:sp>
        <p:nvSpPr>
          <p:cNvPr id="106" name="Google Shape;106;p5"/>
          <p:cNvSpPr/>
          <p:nvPr/>
        </p:nvSpPr>
        <p:spPr>
          <a:xfrm>
            <a:off x="2514600" y="5056632"/>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1100"/>
              <a:buFont typeface="Calibri"/>
              <a:buNone/>
            </a:pPr>
            <a:r>
              <a:rPr b="0" i="0" lang="en-US" sz="1100" u="none" cap="none" strike="noStrike">
                <a:solidFill>
                  <a:srgbClr val="5B6470"/>
                </a:solidFill>
                <a:latin typeface="Calibri"/>
                <a:ea typeface="Calibri"/>
                <a:cs typeface="Calibri"/>
                <a:sym typeface="Calibri"/>
              </a:rPr>
              <a:t>Portfolio hosting &amp; version control</a:t>
            </a:r>
            <a:endParaRPr b="0" i="0" sz="1100" u="none" cap="none" strike="noStrike">
              <a:solidFill>
                <a:schemeClr val="dk1"/>
              </a:solidFill>
              <a:latin typeface="Calibri"/>
              <a:ea typeface="Calibri"/>
              <a:cs typeface="Calibri"/>
              <a:sym typeface="Calibri"/>
            </a:endParaRPr>
          </a:p>
        </p:txBody>
      </p:sp>
      <p:sp>
        <p:nvSpPr>
          <p:cNvPr id="107" name="Google Shape;107;p5"/>
          <p:cNvSpPr/>
          <p:nvPr/>
        </p:nvSpPr>
        <p:spPr>
          <a:xfrm>
            <a:off x="6492250" y="1600200"/>
            <a:ext cx="5166300" cy="4735500"/>
          </a:xfrm>
          <a:prstGeom prst="roundRect">
            <a:avLst>
              <a:gd fmla="val 1200" name="adj"/>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6766560" y="1828800"/>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300"/>
              <a:buFont typeface="Calibri"/>
              <a:buNone/>
            </a:pPr>
            <a:r>
              <a:rPr b="1" i="0" lang="en-US" sz="1300" u="none" cap="none" strike="noStrike">
                <a:solidFill>
                  <a:srgbClr val="C9A227"/>
                </a:solidFill>
                <a:latin typeface="Calibri"/>
                <a:ea typeface="Calibri"/>
                <a:cs typeface="Calibri"/>
                <a:sym typeface="Calibri"/>
              </a:rPr>
              <a:t>ANALYTICS WORKFLOW</a:t>
            </a:r>
            <a:endParaRPr b="0" i="0" sz="1300" u="none" cap="none" strike="noStrike">
              <a:solidFill>
                <a:schemeClr val="dk1"/>
              </a:solidFill>
              <a:latin typeface="Calibri"/>
              <a:ea typeface="Calibri"/>
              <a:cs typeface="Calibri"/>
              <a:sym typeface="Calibri"/>
            </a:endParaRPr>
          </a:p>
        </p:txBody>
      </p:sp>
      <p:sp>
        <p:nvSpPr>
          <p:cNvPr id="109" name="Google Shape;109;p5"/>
          <p:cNvSpPr/>
          <p:nvPr/>
        </p:nvSpPr>
        <p:spPr>
          <a:xfrm>
            <a:off x="6766560" y="2240280"/>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6766560" y="2240280"/>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11" name="Google Shape;111;p5"/>
          <p:cNvSpPr/>
          <p:nvPr/>
        </p:nvSpPr>
        <p:spPr>
          <a:xfrm>
            <a:off x="7178040" y="2221992"/>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Raw Retail Data</a:t>
            </a:r>
            <a:endParaRPr b="0" i="0" sz="1150" u="none" cap="none" strike="noStrike">
              <a:solidFill>
                <a:schemeClr val="dk1"/>
              </a:solidFill>
              <a:latin typeface="Calibri"/>
              <a:ea typeface="Calibri"/>
              <a:cs typeface="Calibri"/>
              <a:sym typeface="Calibri"/>
            </a:endParaRPr>
          </a:p>
        </p:txBody>
      </p:sp>
      <p:sp>
        <p:nvSpPr>
          <p:cNvPr id="112" name="Google Shape;112;p5"/>
          <p:cNvSpPr/>
          <p:nvPr/>
        </p:nvSpPr>
        <p:spPr>
          <a:xfrm>
            <a:off x="6766560" y="2638044"/>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6766560" y="2638044"/>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14" name="Google Shape;114;p5"/>
          <p:cNvSpPr/>
          <p:nvPr/>
        </p:nvSpPr>
        <p:spPr>
          <a:xfrm>
            <a:off x="7178040" y="2619756"/>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Initial Data Inspection</a:t>
            </a:r>
            <a:endParaRPr b="0" i="0" sz="1150" u="none" cap="none" strike="noStrike">
              <a:solidFill>
                <a:schemeClr val="dk1"/>
              </a:solidFill>
              <a:latin typeface="Calibri"/>
              <a:ea typeface="Calibri"/>
              <a:cs typeface="Calibri"/>
              <a:sym typeface="Calibri"/>
            </a:endParaRPr>
          </a:p>
        </p:txBody>
      </p:sp>
      <p:sp>
        <p:nvSpPr>
          <p:cNvPr id="115" name="Google Shape;115;p5"/>
          <p:cNvSpPr/>
          <p:nvPr/>
        </p:nvSpPr>
        <p:spPr>
          <a:xfrm>
            <a:off x="6766560" y="3035808"/>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6766560" y="3035808"/>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17" name="Google Shape;117;p5"/>
          <p:cNvSpPr/>
          <p:nvPr/>
        </p:nvSpPr>
        <p:spPr>
          <a:xfrm>
            <a:off x="7178040" y="3017520"/>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MySQL/SQL Analysis</a:t>
            </a:r>
            <a:endParaRPr b="0" i="0" sz="1150" u="none" cap="none" strike="noStrike">
              <a:solidFill>
                <a:schemeClr val="dk1"/>
              </a:solidFill>
              <a:latin typeface="Calibri"/>
              <a:ea typeface="Calibri"/>
              <a:cs typeface="Calibri"/>
              <a:sym typeface="Calibri"/>
            </a:endParaRPr>
          </a:p>
        </p:txBody>
      </p:sp>
      <p:sp>
        <p:nvSpPr>
          <p:cNvPr id="118" name="Google Shape;118;p5"/>
          <p:cNvSpPr/>
          <p:nvPr/>
        </p:nvSpPr>
        <p:spPr>
          <a:xfrm>
            <a:off x="6766560" y="3433572"/>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6766560" y="3433572"/>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20" name="Google Shape;120;p5"/>
          <p:cNvSpPr/>
          <p:nvPr/>
        </p:nvSpPr>
        <p:spPr>
          <a:xfrm>
            <a:off x="7178040" y="3415284"/>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SQL KPI Validation</a:t>
            </a:r>
            <a:endParaRPr b="0" i="0" sz="1150" u="none" cap="none" strike="noStrike">
              <a:solidFill>
                <a:schemeClr val="dk1"/>
              </a:solidFill>
              <a:latin typeface="Calibri"/>
              <a:ea typeface="Calibri"/>
              <a:cs typeface="Calibri"/>
              <a:sym typeface="Calibri"/>
            </a:endParaRPr>
          </a:p>
        </p:txBody>
      </p:sp>
      <p:sp>
        <p:nvSpPr>
          <p:cNvPr id="121" name="Google Shape;121;p5"/>
          <p:cNvSpPr/>
          <p:nvPr/>
        </p:nvSpPr>
        <p:spPr>
          <a:xfrm>
            <a:off x="6766560" y="3831336"/>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6766560" y="3831336"/>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23" name="Google Shape;123;p5"/>
          <p:cNvSpPr/>
          <p:nvPr/>
        </p:nvSpPr>
        <p:spPr>
          <a:xfrm>
            <a:off x="7178040" y="3813048"/>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Power BI Data Model</a:t>
            </a:r>
            <a:endParaRPr b="0" i="0" sz="1150" u="none" cap="none" strike="noStrike">
              <a:solidFill>
                <a:schemeClr val="dk1"/>
              </a:solidFill>
              <a:latin typeface="Calibri"/>
              <a:ea typeface="Calibri"/>
              <a:cs typeface="Calibri"/>
              <a:sym typeface="Calibri"/>
            </a:endParaRPr>
          </a:p>
        </p:txBody>
      </p:sp>
      <p:sp>
        <p:nvSpPr>
          <p:cNvPr id="124" name="Google Shape;124;p5"/>
          <p:cNvSpPr/>
          <p:nvPr/>
        </p:nvSpPr>
        <p:spPr>
          <a:xfrm>
            <a:off x="6766560" y="4229100"/>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6766560" y="4229100"/>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126" name="Google Shape;126;p5"/>
          <p:cNvSpPr/>
          <p:nvPr/>
        </p:nvSpPr>
        <p:spPr>
          <a:xfrm>
            <a:off x="7178040" y="4210812"/>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DAX Measures</a:t>
            </a:r>
            <a:endParaRPr b="0" i="0" sz="1150" u="none" cap="none" strike="noStrike">
              <a:solidFill>
                <a:schemeClr val="dk1"/>
              </a:solidFill>
              <a:latin typeface="Calibri"/>
              <a:ea typeface="Calibri"/>
              <a:cs typeface="Calibri"/>
              <a:sym typeface="Calibri"/>
            </a:endParaRPr>
          </a:p>
        </p:txBody>
      </p:sp>
      <p:sp>
        <p:nvSpPr>
          <p:cNvPr id="127" name="Google Shape;127;p5"/>
          <p:cNvSpPr/>
          <p:nvPr/>
        </p:nvSpPr>
        <p:spPr>
          <a:xfrm>
            <a:off x="6766560" y="4626864"/>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6766560" y="4626864"/>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
        <p:nvSpPr>
          <p:cNvPr id="129" name="Google Shape;129;p5"/>
          <p:cNvSpPr/>
          <p:nvPr/>
        </p:nvSpPr>
        <p:spPr>
          <a:xfrm>
            <a:off x="7178040" y="4608576"/>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Dashboards</a:t>
            </a:r>
            <a:endParaRPr b="0" i="0" sz="1150" u="none" cap="none" strike="noStrike">
              <a:solidFill>
                <a:schemeClr val="dk1"/>
              </a:solidFill>
              <a:latin typeface="Calibri"/>
              <a:ea typeface="Calibri"/>
              <a:cs typeface="Calibri"/>
              <a:sym typeface="Calibri"/>
            </a:endParaRPr>
          </a:p>
        </p:txBody>
      </p:sp>
      <p:sp>
        <p:nvSpPr>
          <p:cNvPr id="130" name="Google Shape;130;p5"/>
          <p:cNvSpPr/>
          <p:nvPr/>
        </p:nvSpPr>
        <p:spPr>
          <a:xfrm>
            <a:off x="6766560" y="5024628"/>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6766560" y="5024628"/>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sp>
        <p:nvSpPr>
          <p:cNvPr id="132" name="Google Shape;132;p5"/>
          <p:cNvSpPr/>
          <p:nvPr/>
        </p:nvSpPr>
        <p:spPr>
          <a:xfrm>
            <a:off x="7178040" y="5006340"/>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SQL Reconciliation</a:t>
            </a:r>
            <a:endParaRPr b="0" i="0" sz="1150" u="none" cap="none" strike="noStrike">
              <a:solidFill>
                <a:schemeClr val="dk1"/>
              </a:solidFill>
              <a:latin typeface="Calibri"/>
              <a:ea typeface="Calibri"/>
              <a:cs typeface="Calibri"/>
              <a:sym typeface="Calibri"/>
            </a:endParaRPr>
          </a:p>
        </p:txBody>
      </p:sp>
      <p:sp>
        <p:nvSpPr>
          <p:cNvPr id="133" name="Google Shape;133;p5"/>
          <p:cNvSpPr/>
          <p:nvPr/>
        </p:nvSpPr>
        <p:spPr>
          <a:xfrm>
            <a:off x="6766560" y="5422392"/>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6766560" y="5422392"/>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
        <p:nvSpPr>
          <p:cNvPr id="135" name="Google Shape;135;p5"/>
          <p:cNvSpPr/>
          <p:nvPr/>
        </p:nvSpPr>
        <p:spPr>
          <a:xfrm>
            <a:off x="7178040" y="5404104"/>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Business Insights</a:t>
            </a:r>
            <a:endParaRPr b="0" i="0" sz="1150" u="none" cap="none" strike="noStrike">
              <a:solidFill>
                <a:schemeClr val="dk1"/>
              </a:solidFill>
              <a:latin typeface="Calibri"/>
              <a:ea typeface="Calibri"/>
              <a:cs typeface="Calibri"/>
              <a:sym typeface="Calibri"/>
            </a:endParaRPr>
          </a:p>
        </p:txBody>
      </p:sp>
      <p:sp>
        <p:nvSpPr>
          <p:cNvPr id="136" name="Google Shape;136;p5"/>
          <p:cNvSpPr/>
          <p:nvPr/>
        </p:nvSpPr>
        <p:spPr>
          <a:xfrm>
            <a:off x="6766560" y="5820156"/>
            <a:ext cx="292608" cy="292608"/>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6641925" y="5783375"/>
            <a:ext cx="5361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100"/>
              <a:buFont typeface="Calibri"/>
              <a:buNone/>
            </a:pPr>
            <a:r>
              <a:rPr b="1" i="0" lang="en-US" sz="1100" u="none" cap="none" strike="noStrike">
                <a:solidFill>
                  <a:srgbClr val="1F3864"/>
                </a:solidFill>
                <a:latin typeface="Calibri"/>
                <a:ea typeface="Calibri"/>
                <a:cs typeface="Calibri"/>
                <a:sym typeface="Calibri"/>
              </a:rPr>
              <a:t>1</a:t>
            </a:r>
            <a:r>
              <a:rPr b="1" lang="en-US" sz="1100">
                <a:solidFill>
                  <a:srgbClr val="1F3864"/>
                </a:solidFill>
                <a:latin typeface="Calibri"/>
                <a:ea typeface="Calibri"/>
                <a:cs typeface="Calibri"/>
                <a:sym typeface="Calibri"/>
              </a:rPr>
              <a:t>0</a:t>
            </a:r>
            <a:endParaRPr b="0" i="0" sz="1100" u="none" cap="none" strike="noStrike">
              <a:solidFill>
                <a:schemeClr val="dk1"/>
              </a:solidFill>
              <a:latin typeface="Calibri"/>
              <a:ea typeface="Calibri"/>
              <a:cs typeface="Calibri"/>
              <a:sym typeface="Calibri"/>
            </a:endParaRPr>
          </a:p>
        </p:txBody>
      </p:sp>
      <p:sp>
        <p:nvSpPr>
          <p:cNvPr id="138" name="Google Shape;138;p5"/>
          <p:cNvSpPr/>
          <p:nvPr/>
        </p:nvSpPr>
        <p:spPr>
          <a:xfrm>
            <a:off x="7178040" y="5801868"/>
            <a:ext cx="42976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Recommendations</a:t>
            </a:r>
            <a:endParaRPr b="0" i="0" sz="1150" u="none" cap="none" strike="noStrike">
              <a:solidFill>
                <a:schemeClr val="dk1"/>
              </a:solidFill>
              <a:latin typeface="Calibri"/>
              <a:ea typeface="Calibri"/>
              <a:cs typeface="Calibri"/>
              <a:sym typeface="Calibri"/>
            </a:endParaRPr>
          </a:p>
        </p:txBody>
      </p:sp>
      <p:sp>
        <p:nvSpPr>
          <p:cNvPr id="139" name="Google Shape;139;p5"/>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140" name="Google Shape;140;p5"/>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DATA ARCHITECTURE</a:t>
            </a:r>
            <a:endParaRPr b="0" i="0" sz="1300" u="none" cap="none" strike="noStrike">
              <a:solidFill>
                <a:schemeClr val="dk1"/>
              </a:solidFill>
              <a:latin typeface="Calibri"/>
              <a:ea typeface="Calibri"/>
              <a:cs typeface="Calibri"/>
              <a:sym typeface="Calibri"/>
            </a:endParaRPr>
          </a:p>
        </p:txBody>
      </p:sp>
      <p:sp>
        <p:nvSpPr>
          <p:cNvPr id="147" name="Google Shape;147;p6"/>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Data Model</a:t>
            </a:r>
            <a:endParaRPr b="0" i="0" sz="3000" u="none" cap="none" strike="noStrike">
              <a:solidFill>
                <a:schemeClr val="dk1"/>
              </a:solidFill>
              <a:latin typeface="Calibri"/>
              <a:ea typeface="Calibri"/>
              <a:cs typeface="Calibri"/>
              <a:sym typeface="Calibri"/>
            </a:endParaRPr>
          </a:p>
        </p:txBody>
      </p:sp>
      <p:sp>
        <p:nvSpPr>
          <p:cNvPr id="148" name="Google Shape;148;p6"/>
          <p:cNvSpPr/>
          <p:nvPr/>
        </p:nvSpPr>
        <p:spPr>
          <a:xfrm>
            <a:off x="502920" y="1554480"/>
            <a:ext cx="4179055" cy="4663440"/>
          </a:xfrm>
          <a:prstGeom prst="rect">
            <a:avLst/>
          </a:prstGeom>
          <a:solidFill>
            <a:srgbClr val="FFFFFF"/>
          </a:solidFill>
          <a:ln cap="flat" cmpd="sng" w="12700">
            <a:solidFill>
              <a:srgbClr val="CF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 name="Google Shape;149;p6" title="retail_er_diagram.png"/>
          <p:cNvPicPr preferRelativeResize="0"/>
          <p:nvPr/>
        </p:nvPicPr>
        <p:blipFill rotWithShape="1">
          <a:blip r:embed="rId3">
            <a:alphaModFix/>
          </a:blip>
          <a:srcRect b="0" l="0" r="0" t="0"/>
          <a:stretch/>
        </p:blipFill>
        <p:spPr>
          <a:xfrm>
            <a:off x="548640" y="1600200"/>
            <a:ext cx="4087615" cy="4572000"/>
          </a:xfrm>
          <a:prstGeom prst="rect">
            <a:avLst/>
          </a:prstGeom>
          <a:noFill/>
          <a:ln>
            <a:noFill/>
          </a:ln>
        </p:spPr>
      </p:pic>
      <p:sp>
        <p:nvSpPr>
          <p:cNvPr id="150" name="Google Shape;150;p6"/>
          <p:cNvSpPr/>
          <p:nvPr/>
        </p:nvSpPr>
        <p:spPr>
          <a:xfrm>
            <a:off x="5093455" y="1737360"/>
            <a:ext cx="654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CORE ANALYTICAL FLOW</a:t>
            </a:r>
            <a:endParaRPr b="0" i="0" sz="1300" u="none" cap="none" strike="noStrike">
              <a:solidFill>
                <a:schemeClr val="dk1"/>
              </a:solidFill>
              <a:latin typeface="Calibri"/>
              <a:ea typeface="Calibri"/>
              <a:cs typeface="Calibri"/>
              <a:sym typeface="Calibri"/>
            </a:endParaRPr>
          </a:p>
        </p:txBody>
      </p:sp>
      <p:sp>
        <p:nvSpPr>
          <p:cNvPr id="151" name="Google Shape;151;p6"/>
          <p:cNvSpPr/>
          <p:nvPr/>
        </p:nvSpPr>
        <p:spPr>
          <a:xfrm>
            <a:off x="5093455" y="2103120"/>
            <a:ext cx="6549600" cy="10972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400"/>
              <a:buFont typeface="Calibri"/>
              <a:buChar char="▪"/>
            </a:pPr>
            <a:r>
              <a:rPr b="0" i="0" lang="en-US" sz="1400" u="none" cap="none" strike="noStrike">
                <a:solidFill>
                  <a:srgbClr val="0D1B2A"/>
                </a:solidFill>
                <a:latin typeface="Calibri"/>
                <a:ea typeface="Calibri"/>
                <a:cs typeface="Calibri"/>
                <a:sym typeface="Calibri"/>
              </a:rPr>
              <a:t>Customers → Orders → Order Items → Returns</a:t>
            </a:r>
            <a:endParaRPr b="0" i="0" sz="140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400"/>
              <a:buFont typeface="Calibri"/>
              <a:buChar char="▪"/>
            </a:pPr>
            <a:r>
              <a:rPr b="0" i="0" lang="en-US" sz="1400" u="none" cap="none" strike="noStrike">
                <a:solidFill>
                  <a:srgbClr val="0D1B2A"/>
                </a:solidFill>
                <a:latin typeface="Calibri"/>
                <a:ea typeface="Calibri"/>
                <a:cs typeface="Calibri"/>
                <a:sym typeface="Calibri"/>
              </a:rPr>
              <a:t>Orders → Shipments</a:t>
            </a:r>
            <a:endParaRPr b="0" i="0" sz="1400" u="none" cap="none" strike="noStrike">
              <a:solidFill>
                <a:schemeClr val="dk1"/>
              </a:solidFill>
              <a:latin typeface="Calibri"/>
              <a:ea typeface="Calibri"/>
              <a:cs typeface="Calibri"/>
              <a:sym typeface="Calibri"/>
            </a:endParaRPr>
          </a:p>
        </p:txBody>
      </p:sp>
      <p:sp>
        <p:nvSpPr>
          <p:cNvPr id="152" name="Google Shape;152;p6"/>
          <p:cNvSpPr/>
          <p:nvPr/>
        </p:nvSpPr>
        <p:spPr>
          <a:xfrm>
            <a:off x="5093455" y="3200400"/>
            <a:ext cx="65496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250"/>
              <a:buFont typeface="Calibri"/>
              <a:buNone/>
            </a:pPr>
            <a:r>
              <a:rPr b="0" i="0" lang="en-US" sz="1250" u="none" cap="none" strike="noStrike">
                <a:solidFill>
                  <a:srgbClr val="0D1B2A"/>
                </a:solidFill>
                <a:latin typeface="Calibri"/>
                <a:ea typeface="Calibri"/>
                <a:cs typeface="Calibri"/>
                <a:sym typeface="Calibri"/>
              </a:rPr>
              <a:t>12 interconnected tables spanning customers, stores, employees, orders, order items, payments, shipments, returns, products, categories, suppliers and promotions.</a:t>
            </a:r>
            <a:endParaRPr b="0" i="0" sz="1250" u="none" cap="none" strike="noStrike">
              <a:solidFill>
                <a:schemeClr val="dk1"/>
              </a:solidFill>
              <a:latin typeface="Calibri"/>
              <a:ea typeface="Calibri"/>
              <a:cs typeface="Calibri"/>
              <a:sym typeface="Calibri"/>
            </a:endParaRPr>
          </a:p>
        </p:txBody>
      </p:sp>
      <p:sp>
        <p:nvSpPr>
          <p:cNvPr id="153" name="Google Shape;153;p6"/>
          <p:cNvSpPr/>
          <p:nvPr/>
        </p:nvSpPr>
        <p:spPr>
          <a:xfrm>
            <a:off x="5093455" y="4754880"/>
            <a:ext cx="6549600" cy="12801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470"/>
              </a:buClr>
              <a:buSzPts val="1150"/>
              <a:buFont typeface="Calibri"/>
              <a:buNone/>
            </a:pPr>
            <a:r>
              <a:rPr b="0" i="1" lang="en-US" sz="1150" u="none" cap="none" strike="noStrike">
                <a:solidFill>
                  <a:srgbClr val="5B6470"/>
                </a:solidFill>
                <a:latin typeface="Calibri"/>
                <a:ea typeface="Calibri"/>
                <a:cs typeface="Calibri"/>
                <a:sym typeface="Calibri"/>
              </a:rPr>
              <a:t>Relationship and filter propagation were tested during development, particularly for city-level shipment and return analysis.</a:t>
            </a:r>
            <a:endParaRPr b="0" i="0" sz="1150" u="none" cap="none" strike="noStrike">
              <a:solidFill>
                <a:schemeClr val="dk1"/>
              </a:solidFill>
              <a:latin typeface="Calibri"/>
              <a:ea typeface="Calibri"/>
              <a:cs typeface="Calibri"/>
              <a:sym typeface="Calibri"/>
            </a:endParaRPr>
          </a:p>
        </p:txBody>
      </p:sp>
      <p:sp>
        <p:nvSpPr>
          <p:cNvPr id="154" name="Google Shape;154;p6"/>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155" name="Google Shape;155;p6"/>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7"/>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DASHBOARD 1 OF 5</a:t>
            </a:r>
            <a:endParaRPr b="0" i="0" sz="1300" u="none" cap="none" strike="noStrike">
              <a:solidFill>
                <a:schemeClr val="dk1"/>
              </a:solidFill>
              <a:latin typeface="Calibri"/>
              <a:ea typeface="Calibri"/>
              <a:cs typeface="Calibri"/>
              <a:sym typeface="Calibri"/>
            </a:endParaRPr>
          </a:p>
        </p:txBody>
      </p:sp>
      <p:sp>
        <p:nvSpPr>
          <p:cNvPr id="162" name="Google Shape;162;p7"/>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Executive Overview</a:t>
            </a:r>
            <a:endParaRPr b="0" i="0" sz="3000" u="none" cap="none" strike="noStrike">
              <a:solidFill>
                <a:schemeClr val="dk1"/>
              </a:solidFill>
              <a:latin typeface="Calibri"/>
              <a:ea typeface="Calibri"/>
              <a:cs typeface="Calibri"/>
              <a:sym typeface="Calibri"/>
            </a:endParaRPr>
          </a:p>
        </p:txBody>
      </p:sp>
      <p:sp>
        <p:nvSpPr>
          <p:cNvPr id="163" name="Google Shape;163;p7"/>
          <p:cNvSpPr/>
          <p:nvPr/>
        </p:nvSpPr>
        <p:spPr>
          <a:xfrm>
            <a:off x="502920" y="1554480"/>
            <a:ext cx="6217920" cy="3551099"/>
          </a:xfrm>
          <a:prstGeom prst="rect">
            <a:avLst/>
          </a:prstGeom>
          <a:solidFill>
            <a:srgbClr val="FFFFFF"/>
          </a:solidFill>
          <a:ln cap="flat" cmpd="sng" w="12700">
            <a:solidFill>
              <a:srgbClr val="CFCFCF"/>
            </a:solidFill>
            <a:prstDash val="solid"/>
            <a:round/>
            <a:headEnd len="sm" w="sm" type="none"/>
            <a:tailEnd len="sm" w="sm" type="none"/>
          </a:ln>
          <a:effectLst>
            <a:outerShdw blurRad="76200" rotWithShape="0" algn="bl" dir="5400000" dist="25400">
              <a:srgbClr val="88888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 name="Google Shape;164;p7" title="D1_Executive_Overview.png"/>
          <p:cNvPicPr preferRelativeResize="0"/>
          <p:nvPr/>
        </p:nvPicPr>
        <p:blipFill rotWithShape="1">
          <a:blip r:embed="rId3">
            <a:alphaModFix/>
          </a:blip>
          <a:srcRect b="0" l="80" r="80" t="0"/>
          <a:stretch/>
        </p:blipFill>
        <p:spPr>
          <a:xfrm>
            <a:off x="548650" y="1600200"/>
            <a:ext cx="6093274" cy="3459650"/>
          </a:xfrm>
          <a:prstGeom prst="rect">
            <a:avLst/>
          </a:prstGeom>
          <a:noFill/>
          <a:ln>
            <a:noFill/>
          </a:ln>
        </p:spPr>
      </p:pic>
      <p:sp>
        <p:nvSpPr>
          <p:cNvPr id="165" name="Google Shape;165;p7"/>
          <p:cNvSpPr/>
          <p:nvPr/>
        </p:nvSpPr>
        <p:spPr>
          <a:xfrm>
            <a:off x="7086600" y="1600200"/>
            <a:ext cx="455645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KEY FINDINGS</a:t>
            </a:r>
            <a:endParaRPr b="0" i="0" sz="1300" u="none" cap="none" strike="noStrike">
              <a:solidFill>
                <a:schemeClr val="dk1"/>
              </a:solidFill>
              <a:latin typeface="Calibri"/>
              <a:ea typeface="Calibri"/>
              <a:cs typeface="Calibri"/>
              <a:sym typeface="Calibri"/>
            </a:endParaRPr>
          </a:p>
        </p:txBody>
      </p:sp>
      <p:sp>
        <p:nvSpPr>
          <p:cNvPr id="166" name="Google Shape;166;p7"/>
          <p:cNvSpPr/>
          <p:nvPr/>
        </p:nvSpPr>
        <p:spPr>
          <a:xfrm>
            <a:off x="7086600" y="1920240"/>
            <a:ext cx="4556455" cy="24688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Gross sales are approximately </a:t>
            </a:r>
            <a:r>
              <a:rPr lang="en-US" sz="1300">
                <a:solidFill>
                  <a:srgbClr val="0D1B2A"/>
                </a:solidFill>
              </a:rPr>
              <a:t>₹</a:t>
            </a:r>
            <a:r>
              <a:rPr b="0" i="0" lang="en-US" sz="1350" u="none" cap="none" strike="noStrike">
                <a:solidFill>
                  <a:srgbClr val="0D1B2A"/>
                </a:solidFill>
                <a:latin typeface="Calibri"/>
                <a:ea typeface="Calibri"/>
                <a:cs typeface="Calibri"/>
                <a:sym typeface="Calibri"/>
              </a:rPr>
              <a:t>3.83B.</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YoY sales growth is 29.77%.</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AOV is approximately ₹12.76K.</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Mumbai is the strongest revenue market.</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Q4 is the strongest quarter.</a:t>
            </a:r>
            <a:endParaRPr b="0" i="0" sz="1350" u="none" cap="none" strike="noStrike">
              <a:solidFill>
                <a:schemeClr val="dk1"/>
              </a:solidFill>
              <a:latin typeface="Calibri"/>
              <a:ea typeface="Calibri"/>
              <a:cs typeface="Calibri"/>
              <a:sym typeface="Calibri"/>
            </a:endParaRPr>
          </a:p>
        </p:txBody>
      </p:sp>
      <p:sp>
        <p:nvSpPr>
          <p:cNvPr id="167" name="Google Shape;167;p7"/>
          <p:cNvSpPr/>
          <p:nvPr/>
        </p:nvSpPr>
        <p:spPr>
          <a:xfrm>
            <a:off x="7086600" y="4526280"/>
            <a:ext cx="4556455" cy="18288"/>
          </a:xfrm>
          <a:prstGeom prst="rect">
            <a:avLst/>
          </a:prstGeom>
          <a:solidFill>
            <a:srgbClr val="D7E2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7086600" y="4663440"/>
            <a:ext cx="4556455"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100"/>
              <a:buFont typeface="Calibri"/>
              <a:buNone/>
            </a:pPr>
            <a:r>
              <a:rPr b="1" i="0" lang="en-US" sz="1100" u="none" cap="none" strike="noStrike">
                <a:solidFill>
                  <a:srgbClr val="2E74B5"/>
                </a:solidFill>
                <a:latin typeface="Calibri"/>
                <a:ea typeface="Calibri"/>
                <a:cs typeface="Calibri"/>
                <a:sym typeface="Calibri"/>
              </a:rPr>
              <a:t>MANAGEMENT CONCLUSION</a:t>
            </a:r>
            <a:endParaRPr b="0" i="0" sz="1100" u="none" cap="none" strike="noStrike">
              <a:solidFill>
                <a:schemeClr val="dk1"/>
              </a:solidFill>
              <a:latin typeface="Calibri"/>
              <a:ea typeface="Calibri"/>
              <a:cs typeface="Calibri"/>
              <a:sym typeface="Calibri"/>
            </a:endParaRPr>
          </a:p>
        </p:txBody>
      </p:sp>
      <p:sp>
        <p:nvSpPr>
          <p:cNvPr id="169" name="Google Shape;169;p7"/>
          <p:cNvSpPr/>
          <p:nvPr/>
        </p:nvSpPr>
        <p:spPr>
          <a:xfrm>
            <a:off x="7086600" y="4937760"/>
            <a:ext cx="4556455"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0" i="0" lang="en-US" sz="1100" u="none" cap="none" strike="noStrike">
                <a:solidFill>
                  <a:srgbClr val="0D1B2A"/>
                </a:solidFill>
                <a:latin typeface="Calibri"/>
                <a:ea typeface="Calibri"/>
                <a:cs typeface="Calibri"/>
                <a:sym typeface="Calibri"/>
              </a:rPr>
              <a:t>The retail business generated approximately $3.83B in gross sales across four cities, with Mumbai contributing the highest sales. Sales grew 29.77% YoY, while AOV reached ₹12.76K. Revenue remained relatively stable across months, with Q4 emerging as the strongest quarter.</a:t>
            </a:r>
            <a:endParaRPr b="0" i="0" sz="1100" u="none" cap="none" strike="noStrike">
              <a:solidFill>
                <a:schemeClr val="dk1"/>
              </a:solidFill>
              <a:latin typeface="Calibri"/>
              <a:ea typeface="Calibri"/>
              <a:cs typeface="Calibri"/>
              <a:sym typeface="Calibri"/>
            </a:endParaRPr>
          </a:p>
        </p:txBody>
      </p:sp>
      <p:sp>
        <p:nvSpPr>
          <p:cNvPr id="170" name="Google Shape;170;p7"/>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171" name="Google Shape;171;p7"/>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8"/>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DASHBOARD 2 OF 5</a:t>
            </a:r>
            <a:endParaRPr b="0" i="0" sz="1300" u="none" cap="none" strike="noStrike">
              <a:solidFill>
                <a:schemeClr val="dk1"/>
              </a:solidFill>
              <a:latin typeface="Calibri"/>
              <a:ea typeface="Calibri"/>
              <a:cs typeface="Calibri"/>
              <a:sym typeface="Calibri"/>
            </a:endParaRPr>
          </a:p>
        </p:txBody>
      </p:sp>
      <p:sp>
        <p:nvSpPr>
          <p:cNvPr id="178" name="Google Shape;178;p8"/>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Store Performance</a:t>
            </a:r>
            <a:endParaRPr b="0" i="0" sz="3000" u="none" cap="none" strike="noStrike">
              <a:solidFill>
                <a:schemeClr val="dk1"/>
              </a:solidFill>
              <a:latin typeface="Calibri"/>
              <a:ea typeface="Calibri"/>
              <a:cs typeface="Calibri"/>
              <a:sym typeface="Calibri"/>
            </a:endParaRPr>
          </a:p>
        </p:txBody>
      </p:sp>
      <p:sp>
        <p:nvSpPr>
          <p:cNvPr id="179" name="Google Shape;179;p8"/>
          <p:cNvSpPr/>
          <p:nvPr/>
        </p:nvSpPr>
        <p:spPr>
          <a:xfrm>
            <a:off x="502920" y="1554480"/>
            <a:ext cx="6217920" cy="3554233"/>
          </a:xfrm>
          <a:prstGeom prst="rect">
            <a:avLst/>
          </a:prstGeom>
          <a:solidFill>
            <a:srgbClr val="FFFFFF"/>
          </a:solidFill>
          <a:ln cap="flat" cmpd="sng" w="12700">
            <a:solidFill>
              <a:srgbClr val="CFCFCF"/>
            </a:solidFill>
            <a:prstDash val="solid"/>
            <a:round/>
            <a:headEnd len="sm" w="sm" type="none"/>
            <a:tailEnd len="sm" w="sm" type="none"/>
          </a:ln>
          <a:effectLst>
            <a:outerShdw blurRad="76200" rotWithShape="0" algn="bl" dir="5400000" dist="25400">
              <a:srgbClr val="88888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8" title="D2_Store_Performance.png"/>
          <p:cNvPicPr preferRelativeResize="0"/>
          <p:nvPr/>
        </p:nvPicPr>
        <p:blipFill rotWithShape="1">
          <a:blip r:embed="rId3">
            <a:alphaModFix/>
          </a:blip>
          <a:srcRect b="0" l="90" r="100" t="0"/>
          <a:stretch/>
        </p:blipFill>
        <p:spPr>
          <a:xfrm>
            <a:off x="548640" y="1600200"/>
            <a:ext cx="6126479" cy="3462793"/>
          </a:xfrm>
          <a:prstGeom prst="rect">
            <a:avLst/>
          </a:prstGeom>
          <a:noFill/>
          <a:ln>
            <a:noFill/>
          </a:ln>
        </p:spPr>
      </p:pic>
      <p:sp>
        <p:nvSpPr>
          <p:cNvPr id="181" name="Google Shape;181;p8"/>
          <p:cNvSpPr/>
          <p:nvPr/>
        </p:nvSpPr>
        <p:spPr>
          <a:xfrm>
            <a:off x="7086600" y="1600200"/>
            <a:ext cx="455645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KEY FINDINGS</a:t>
            </a:r>
            <a:endParaRPr b="0" i="0" sz="1300" u="none" cap="none" strike="noStrike">
              <a:solidFill>
                <a:schemeClr val="dk1"/>
              </a:solidFill>
              <a:latin typeface="Calibri"/>
              <a:ea typeface="Calibri"/>
              <a:cs typeface="Calibri"/>
              <a:sym typeface="Calibri"/>
            </a:endParaRPr>
          </a:p>
        </p:txBody>
      </p:sp>
      <p:sp>
        <p:nvSpPr>
          <p:cNvPr id="182" name="Google Shape;182;p8"/>
          <p:cNvSpPr/>
          <p:nvPr/>
        </p:nvSpPr>
        <p:spPr>
          <a:xfrm>
            <a:off x="7086600" y="1920240"/>
            <a:ext cx="4556455" cy="24688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Mumbai is the strongest-performing market.</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Mumbai leads order volume and customer base.</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Mumbai has the strongest AOV position.</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Mumbai contributes approximately 31% of overall sales.</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Category performance varies by city.</a:t>
            </a:r>
            <a:endParaRPr b="0" i="0" sz="1350" u="none" cap="none" strike="noStrike">
              <a:solidFill>
                <a:schemeClr val="dk1"/>
              </a:solidFill>
              <a:latin typeface="Calibri"/>
              <a:ea typeface="Calibri"/>
              <a:cs typeface="Calibri"/>
              <a:sym typeface="Calibri"/>
            </a:endParaRPr>
          </a:p>
        </p:txBody>
      </p:sp>
      <p:sp>
        <p:nvSpPr>
          <p:cNvPr id="183" name="Google Shape;183;p8"/>
          <p:cNvSpPr/>
          <p:nvPr/>
        </p:nvSpPr>
        <p:spPr>
          <a:xfrm>
            <a:off x="7086600" y="4526280"/>
            <a:ext cx="4556455" cy="18288"/>
          </a:xfrm>
          <a:prstGeom prst="rect">
            <a:avLst/>
          </a:prstGeom>
          <a:solidFill>
            <a:srgbClr val="D7E2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7086600" y="4663440"/>
            <a:ext cx="4556455"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100"/>
              <a:buFont typeface="Calibri"/>
              <a:buNone/>
            </a:pPr>
            <a:r>
              <a:rPr b="1" i="0" lang="en-US" sz="1100" u="none" cap="none" strike="noStrike">
                <a:solidFill>
                  <a:srgbClr val="2E74B5"/>
                </a:solidFill>
                <a:latin typeface="Calibri"/>
                <a:ea typeface="Calibri"/>
                <a:cs typeface="Calibri"/>
                <a:sym typeface="Calibri"/>
              </a:rPr>
              <a:t>MANAGEMENT CONCLUSION</a:t>
            </a:r>
            <a:endParaRPr b="0" i="0" sz="1100" u="none" cap="none" strike="noStrike">
              <a:solidFill>
                <a:schemeClr val="dk1"/>
              </a:solidFill>
              <a:latin typeface="Calibri"/>
              <a:ea typeface="Calibri"/>
              <a:cs typeface="Calibri"/>
              <a:sym typeface="Calibri"/>
            </a:endParaRPr>
          </a:p>
        </p:txBody>
      </p:sp>
      <p:sp>
        <p:nvSpPr>
          <p:cNvPr id="185" name="Google Shape;185;p8"/>
          <p:cNvSpPr/>
          <p:nvPr/>
        </p:nvSpPr>
        <p:spPr>
          <a:xfrm>
            <a:off x="7086600" y="4937760"/>
            <a:ext cx="4556455"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0" i="0" lang="en-US" sz="1100" u="none" cap="none" strike="noStrike">
                <a:solidFill>
                  <a:srgbClr val="0D1B2A"/>
                </a:solidFill>
                <a:latin typeface="Calibri"/>
                <a:ea typeface="Calibri"/>
                <a:cs typeface="Calibri"/>
                <a:sym typeface="Calibri"/>
              </a:rPr>
              <a:t>Mumbai leads in orders, customers, average order value and overall sales contribution. Pune follows, while Delhi and Bangalore show comparatively lower performance. Category-level performance also varies between cities, highlighting the need for location-specific strategies.</a:t>
            </a:r>
            <a:endParaRPr b="0" i="0" sz="1100" u="none" cap="none" strike="noStrike">
              <a:solidFill>
                <a:schemeClr val="dk1"/>
              </a:solidFill>
              <a:latin typeface="Calibri"/>
              <a:ea typeface="Calibri"/>
              <a:cs typeface="Calibri"/>
              <a:sym typeface="Calibri"/>
            </a:endParaRPr>
          </a:p>
        </p:txBody>
      </p:sp>
      <p:sp>
        <p:nvSpPr>
          <p:cNvPr id="186" name="Google Shape;186;p8"/>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187" name="Google Shape;187;p8"/>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9"/>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DASHBOARD 3 OF 5</a:t>
            </a:r>
            <a:endParaRPr b="0" i="0" sz="1300" u="none" cap="none" strike="noStrike">
              <a:solidFill>
                <a:schemeClr val="dk1"/>
              </a:solidFill>
              <a:latin typeface="Calibri"/>
              <a:ea typeface="Calibri"/>
              <a:cs typeface="Calibri"/>
              <a:sym typeface="Calibri"/>
            </a:endParaRPr>
          </a:p>
        </p:txBody>
      </p:sp>
      <p:sp>
        <p:nvSpPr>
          <p:cNvPr id="194" name="Google Shape;194;p9"/>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Product &amp; Category Performance</a:t>
            </a:r>
            <a:endParaRPr b="0" i="0" sz="3000" u="none" cap="none" strike="noStrike">
              <a:solidFill>
                <a:schemeClr val="dk1"/>
              </a:solidFill>
              <a:latin typeface="Calibri"/>
              <a:ea typeface="Calibri"/>
              <a:cs typeface="Calibri"/>
              <a:sym typeface="Calibri"/>
            </a:endParaRPr>
          </a:p>
        </p:txBody>
      </p:sp>
      <p:sp>
        <p:nvSpPr>
          <p:cNvPr id="195" name="Google Shape;195;p9"/>
          <p:cNvSpPr/>
          <p:nvPr/>
        </p:nvSpPr>
        <p:spPr>
          <a:xfrm>
            <a:off x="502920" y="1554480"/>
            <a:ext cx="6217920" cy="3549771"/>
          </a:xfrm>
          <a:prstGeom prst="rect">
            <a:avLst/>
          </a:prstGeom>
          <a:solidFill>
            <a:srgbClr val="FFFFFF"/>
          </a:solidFill>
          <a:ln cap="flat" cmpd="sng" w="12700">
            <a:solidFill>
              <a:srgbClr val="CFCFCF"/>
            </a:solidFill>
            <a:prstDash val="solid"/>
            <a:round/>
            <a:headEnd len="sm" w="sm" type="none"/>
            <a:tailEnd len="sm" w="sm" type="none"/>
          </a:ln>
          <a:effectLst>
            <a:outerShdw blurRad="76200" rotWithShape="0" algn="bl" dir="5400000" dist="25400">
              <a:srgbClr val="88888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6" name="Google Shape;196;p9" title="D3_Product_&amp;_Category_Performance.png"/>
          <p:cNvPicPr preferRelativeResize="0"/>
          <p:nvPr/>
        </p:nvPicPr>
        <p:blipFill rotWithShape="1">
          <a:blip r:embed="rId3">
            <a:alphaModFix/>
          </a:blip>
          <a:srcRect b="0" l="60" r="70" t="0"/>
          <a:stretch/>
        </p:blipFill>
        <p:spPr>
          <a:xfrm>
            <a:off x="548640" y="1600200"/>
            <a:ext cx="6126481" cy="3458331"/>
          </a:xfrm>
          <a:prstGeom prst="rect">
            <a:avLst/>
          </a:prstGeom>
          <a:noFill/>
          <a:ln>
            <a:noFill/>
          </a:ln>
        </p:spPr>
      </p:pic>
      <p:sp>
        <p:nvSpPr>
          <p:cNvPr id="197" name="Google Shape;197;p9"/>
          <p:cNvSpPr/>
          <p:nvPr/>
        </p:nvSpPr>
        <p:spPr>
          <a:xfrm>
            <a:off x="7086600" y="1600200"/>
            <a:ext cx="455645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KEY FINDINGS</a:t>
            </a:r>
            <a:endParaRPr b="0" i="0" sz="1300" u="none" cap="none" strike="noStrike">
              <a:solidFill>
                <a:schemeClr val="dk1"/>
              </a:solidFill>
              <a:latin typeface="Calibri"/>
              <a:ea typeface="Calibri"/>
              <a:cs typeface="Calibri"/>
              <a:sym typeface="Calibri"/>
            </a:endParaRPr>
          </a:p>
        </p:txBody>
      </p:sp>
      <p:sp>
        <p:nvSpPr>
          <p:cNvPr id="198" name="Google Shape;198;p9"/>
          <p:cNvSpPr/>
          <p:nvPr/>
        </p:nvSpPr>
        <p:spPr>
          <a:xfrm>
            <a:off x="7086600" y="1920240"/>
            <a:ext cx="4556455" cy="24688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Product 745 is the top product.</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Cat_5 is the top category.</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Approximately 10K distinct products are represented.</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Approximately 2M units are represented.</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Category AOV varies, creating cross-selling opportunities.</a:t>
            </a:r>
            <a:endParaRPr b="0" i="0" sz="1350" u="none" cap="none" strike="noStrike">
              <a:solidFill>
                <a:schemeClr val="dk1"/>
              </a:solidFill>
              <a:latin typeface="Calibri"/>
              <a:ea typeface="Calibri"/>
              <a:cs typeface="Calibri"/>
              <a:sym typeface="Calibri"/>
            </a:endParaRPr>
          </a:p>
        </p:txBody>
      </p:sp>
      <p:sp>
        <p:nvSpPr>
          <p:cNvPr id="199" name="Google Shape;199;p9"/>
          <p:cNvSpPr/>
          <p:nvPr/>
        </p:nvSpPr>
        <p:spPr>
          <a:xfrm>
            <a:off x="7086600" y="4526280"/>
            <a:ext cx="4556455" cy="18288"/>
          </a:xfrm>
          <a:prstGeom prst="rect">
            <a:avLst/>
          </a:prstGeom>
          <a:solidFill>
            <a:srgbClr val="D7E2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7086600" y="4663440"/>
            <a:ext cx="4556455"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100"/>
              <a:buFont typeface="Calibri"/>
              <a:buNone/>
            </a:pPr>
            <a:r>
              <a:rPr b="1" i="0" lang="en-US" sz="1100" u="none" cap="none" strike="noStrike">
                <a:solidFill>
                  <a:srgbClr val="2E74B5"/>
                </a:solidFill>
                <a:latin typeface="Calibri"/>
                <a:ea typeface="Calibri"/>
                <a:cs typeface="Calibri"/>
                <a:sym typeface="Calibri"/>
              </a:rPr>
              <a:t>MANAGEMENT CONCLUSION</a:t>
            </a:r>
            <a:endParaRPr b="0" i="0" sz="1100" u="none" cap="none" strike="noStrike">
              <a:solidFill>
                <a:schemeClr val="dk1"/>
              </a:solidFill>
              <a:latin typeface="Calibri"/>
              <a:ea typeface="Calibri"/>
              <a:cs typeface="Calibri"/>
              <a:sym typeface="Calibri"/>
            </a:endParaRPr>
          </a:p>
        </p:txBody>
      </p:sp>
      <p:sp>
        <p:nvSpPr>
          <p:cNvPr id="201" name="Google Shape;201;p9"/>
          <p:cNvSpPr/>
          <p:nvPr/>
        </p:nvSpPr>
        <p:spPr>
          <a:xfrm>
            <a:off x="7086600" y="4937760"/>
            <a:ext cx="4556455"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0" i="0" lang="en-US" sz="1100" u="none" cap="none" strike="noStrike">
                <a:solidFill>
                  <a:srgbClr val="0D1B2A"/>
                </a:solidFill>
                <a:latin typeface="Calibri"/>
                <a:ea typeface="Calibri"/>
                <a:cs typeface="Calibri"/>
                <a:sym typeface="Calibri"/>
              </a:rPr>
              <a:t>Product and category performance is relatively diversified, with Cat_5 leading and Product 745 as the top seller. Differences in category AOV indicate opportunities to optimize product mix, pricing and cross-selling.</a:t>
            </a:r>
            <a:endParaRPr b="0" i="0" sz="1100" u="none" cap="none" strike="noStrike">
              <a:solidFill>
                <a:schemeClr val="dk1"/>
              </a:solidFill>
              <a:latin typeface="Calibri"/>
              <a:ea typeface="Calibri"/>
              <a:cs typeface="Calibri"/>
              <a:sym typeface="Calibri"/>
            </a:endParaRPr>
          </a:p>
        </p:txBody>
      </p:sp>
      <p:sp>
        <p:nvSpPr>
          <p:cNvPr id="202" name="Google Shape;202;p9"/>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203" name="Google Shape;203;p9"/>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10"/>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DASHBOARD 4 OF 5</a:t>
            </a:r>
            <a:endParaRPr b="0" i="0" sz="1300" u="none" cap="none" strike="noStrike">
              <a:solidFill>
                <a:schemeClr val="dk1"/>
              </a:solidFill>
              <a:latin typeface="Calibri"/>
              <a:ea typeface="Calibri"/>
              <a:cs typeface="Calibri"/>
              <a:sym typeface="Calibri"/>
            </a:endParaRPr>
          </a:p>
        </p:txBody>
      </p:sp>
      <p:sp>
        <p:nvSpPr>
          <p:cNvPr id="210" name="Google Shape;210;p10"/>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Customer Performance</a:t>
            </a:r>
            <a:endParaRPr b="0" i="0" sz="3000" u="none" cap="none" strike="noStrike">
              <a:solidFill>
                <a:schemeClr val="dk1"/>
              </a:solidFill>
              <a:latin typeface="Calibri"/>
              <a:ea typeface="Calibri"/>
              <a:cs typeface="Calibri"/>
              <a:sym typeface="Calibri"/>
            </a:endParaRPr>
          </a:p>
        </p:txBody>
      </p:sp>
      <p:sp>
        <p:nvSpPr>
          <p:cNvPr id="211" name="Google Shape;211;p10"/>
          <p:cNvSpPr/>
          <p:nvPr/>
        </p:nvSpPr>
        <p:spPr>
          <a:xfrm>
            <a:off x="502920" y="1554480"/>
            <a:ext cx="6217920" cy="3549771"/>
          </a:xfrm>
          <a:prstGeom prst="rect">
            <a:avLst/>
          </a:prstGeom>
          <a:solidFill>
            <a:srgbClr val="FFFFFF"/>
          </a:solidFill>
          <a:ln cap="flat" cmpd="sng" w="12700">
            <a:solidFill>
              <a:srgbClr val="CFCFCF"/>
            </a:solidFill>
            <a:prstDash val="solid"/>
            <a:round/>
            <a:headEnd len="sm" w="sm" type="none"/>
            <a:tailEnd len="sm" w="sm" type="none"/>
          </a:ln>
          <a:effectLst>
            <a:outerShdw blurRad="76200" rotWithShape="0" algn="bl" dir="5400000" dist="25400">
              <a:srgbClr val="88888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2" name="Google Shape;212;p10" title="D4_Customer_Performance.png"/>
          <p:cNvPicPr preferRelativeResize="0"/>
          <p:nvPr/>
        </p:nvPicPr>
        <p:blipFill rotWithShape="1">
          <a:blip r:embed="rId3">
            <a:alphaModFix/>
          </a:blip>
          <a:srcRect b="0" l="110" r="100" t="0"/>
          <a:stretch/>
        </p:blipFill>
        <p:spPr>
          <a:xfrm>
            <a:off x="548640" y="1600200"/>
            <a:ext cx="6126479" cy="3458331"/>
          </a:xfrm>
          <a:prstGeom prst="rect">
            <a:avLst/>
          </a:prstGeom>
          <a:noFill/>
          <a:ln>
            <a:noFill/>
          </a:ln>
        </p:spPr>
      </p:pic>
      <p:sp>
        <p:nvSpPr>
          <p:cNvPr id="213" name="Google Shape;213;p10"/>
          <p:cNvSpPr/>
          <p:nvPr/>
        </p:nvSpPr>
        <p:spPr>
          <a:xfrm>
            <a:off x="7086600" y="1600200"/>
            <a:ext cx="455645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KEY FINDINGS</a:t>
            </a:r>
            <a:endParaRPr b="0" i="0" sz="1300" u="none" cap="none" strike="noStrike">
              <a:solidFill>
                <a:schemeClr val="dk1"/>
              </a:solidFill>
              <a:latin typeface="Calibri"/>
              <a:ea typeface="Calibri"/>
              <a:cs typeface="Calibri"/>
              <a:sym typeface="Calibri"/>
            </a:endParaRPr>
          </a:p>
        </p:txBody>
      </p:sp>
      <p:sp>
        <p:nvSpPr>
          <p:cNvPr id="214" name="Google Shape;214;p10"/>
          <p:cNvSpPr/>
          <p:nvPr/>
        </p:nvSpPr>
        <p:spPr>
          <a:xfrm>
            <a:off x="7086600" y="1920240"/>
            <a:ext cx="4556455" cy="24688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Mumbai has the largest customer base and highest customer sales.</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Average orders per customer are around 6.</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Repeat Customer Rate is 98.56%.</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Largest customer-value segment is 50K–100K.</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High-value customers are a smaller segment.</a:t>
            </a:r>
            <a:endParaRPr b="0" i="0" sz="1350" u="none" cap="none" strike="noStrike">
              <a:solidFill>
                <a:schemeClr val="dk1"/>
              </a:solidFill>
              <a:latin typeface="Calibri"/>
              <a:ea typeface="Calibri"/>
              <a:cs typeface="Calibri"/>
              <a:sym typeface="Calibri"/>
            </a:endParaRPr>
          </a:p>
        </p:txBody>
      </p:sp>
      <p:sp>
        <p:nvSpPr>
          <p:cNvPr id="215" name="Google Shape;215;p10"/>
          <p:cNvSpPr/>
          <p:nvPr/>
        </p:nvSpPr>
        <p:spPr>
          <a:xfrm>
            <a:off x="7086600" y="4526280"/>
            <a:ext cx="4556455" cy="18288"/>
          </a:xfrm>
          <a:prstGeom prst="rect">
            <a:avLst/>
          </a:prstGeom>
          <a:solidFill>
            <a:srgbClr val="D7E2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7086600" y="4663440"/>
            <a:ext cx="4556455"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100"/>
              <a:buFont typeface="Calibri"/>
              <a:buNone/>
            </a:pPr>
            <a:r>
              <a:rPr b="1" i="0" lang="en-US" sz="1100" u="none" cap="none" strike="noStrike">
                <a:solidFill>
                  <a:srgbClr val="2E74B5"/>
                </a:solidFill>
                <a:latin typeface="Calibri"/>
                <a:ea typeface="Calibri"/>
                <a:cs typeface="Calibri"/>
                <a:sym typeface="Calibri"/>
              </a:rPr>
              <a:t>MANAGEMENT CONCLUSION</a:t>
            </a:r>
            <a:endParaRPr b="0" i="0" sz="1100" u="none" cap="none" strike="noStrike">
              <a:solidFill>
                <a:schemeClr val="dk1"/>
              </a:solidFill>
              <a:latin typeface="Calibri"/>
              <a:ea typeface="Calibri"/>
              <a:cs typeface="Calibri"/>
              <a:sym typeface="Calibri"/>
            </a:endParaRPr>
          </a:p>
        </p:txBody>
      </p:sp>
      <p:sp>
        <p:nvSpPr>
          <p:cNvPr id="217" name="Google Shape;217;p10"/>
          <p:cNvSpPr/>
          <p:nvPr/>
        </p:nvSpPr>
        <p:spPr>
          <a:xfrm>
            <a:off x="7086600" y="4937760"/>
            <a:ext cx="4556455"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0" i="0" lang="en-US" sz="1100" u="none" cap="none" strike="noStrike">
                <a:solidFill>
                  <a:srgbClr val="0D1B2A"/>
                </a:solidFill>
                <a:latin typeface="Calibri"/>
                <a:ea typeface="Calibri"/>
                <a:cs typeface="Calibri"/>
                <a:sym typeface="Calibri"/>
              </a:rPr>
              <a:t>Mumbai leads in customer base and sales value, with an exceptionally strong 98.56% repeat customer rate. The largest growth lever is increasing the value of existing customers rather than pure acquisition.</a:t>
            </a:r>
            <a:endParaRPr b="0" i="0" sz="1100" u="none" cap="none" strike="noStrike">
              <a:solidFill>
                <a:schemeClr val="dk1"/>
              </a:solidFill>
              <a:latin typeface="Calibri"/>
              <a:ea typeface="Calibri"/>
              <a:cs typeface="Calibri"/>
              <a:sym typeface="Calibri"/>
            </a:endParaRPr>
          </a:p>
        </p:txBody>
      </p:sp>
      <p:sp>
        <p:nvSpPr>
          <p:cNvPr id="218" name="Google Shape;218;p10"/>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219" name="Google Shape;219;p10"/>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1"/>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DASHBOARD 5 OF 5</a:t>
            </a:r>
            <a:endParaRPr b="0" i="0" sz="1300" u="none" cap="none" strike="noStrike">
              <a:solidFill>
                <a:schemeClr val="dk1"/>
              </a:solidFill>
              <a:latin typeface="Calibri"/>
              <a:ea typeface="Calibri"/>
              <a:cs typeface="Calibri"/>
              <a:sym typeface="Calibri"/>
            </a:endParaRPr>
          </a:p>
        </p:txBody>
      </p:sp>
      <p:sp>
        <p:nvSpPr>
          <p:cNvPr id="226" name="Google Shape;226;p11"/>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Operations, Returns &amp; Shipments</a:t>
            </a:r>
            <a:endParaRPr b="0" i="0" sz="3000" u="none" cap="none" strike="noStrike">
              <a:solidFill>
                <a:schemeClr val="dk1"/>
              </a:solidFill>
              <a:latin typeface="Calibri"/>
              <a:ea typeface="Calibri"/>
              <a:cs typeface="Calibri"/>
              <a:sym typeface="Calibri"/>
            </a:endParaRPr>
          </a:p>
        </p:txBody>
      </p:sp>
      <p:sp>
        <p:nvSpPr>
          <p:cNvPr id="227" name="Google Shape;227;p11"/>
          <p:cNvSpPr/>
          <p:nvPr/>
        </p:nvSpPr>
        <p:spPr>
          <a:xfrm>
            <a:off x="502920" y="1554480"/>
            <a:ext cx="6217920" cy="3549771"/>
          </a:xfrm>
          <a:prstGeom prst="rect">
            <a:avLst/>
          </a:prstGeom>
          <a:solidFill>
            <a:srgbClr val="FFFFFF"/>
          </a:solidFill>
          <a:ln cap="flat" cmpd="sng" w="12700">
            <a:solidFill>
              <a:srgbClr val="CFCFCF"/>
            </a:solidFill>
            <a:prstDash val="solid"/>
            <a:round/>
            <a:headEnd len="sm" w="sm" type="none"/>
            <a:tailEnd len="sm" w="sm" type="none"/>
          </a:ln>
          <a:effectLst>
            <a:outerShdw blurRad="76200" rotWithShape="0" algn="bl" dir="5400000" dist="25400">
              <a:srgbClr val="88888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8" name="Google Shape;228;p11" title="D5_Operations_&amp;_Returns.png"/>
          <p:cNvPicPr preferRelativeResize="0"/>
          <p:nvPr/>
        </p:nvPicPr>
        <p:blipFill rotWithShape="1">
          <a:blip r:embed="rId3">
            <a:alphaModFix/>
          </a:blip>
          <a:srcRect b="0" l="110" r="100" t="0"/>
          <a:stretch/>
        </p:blipFill>
        <p:spPr>
          <a:xfrm>
            <a:off x="548640" y="1600200"/>
            <a:ext cx="6126479" cy="3458331"/>
          </a:xfrm>
          <a:prstGeom prst="rect">
            <a:avLst/>
          </a:prstGeom>
          <a:noFill/>
          <a:ln>
            <a:noFill/>
          </a:ln>
        </p:spPr>
      </p:pic>
      <p:sp>
        <p:nvSpPr>
          <p:cNvPr id="229" name="Google Shape;229;p11"/>
          <p:cNvSpPr/>
          <p:nvPr/>
        </p:nvSpPr>
        <p:spPr>
          <a:xfrm>
            <a:off x="7086600" y="1600200"/>
            <a:ext cx="455645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KEY FINDINGS</a:t>
            </a:r>
            <a:endParaRPr b="0" i="0" sz="1300" u="none" cap="none" strike="noStrike">
              <a:solidFill>
                <a:schemeClr val="dk1"/>
              </a:solidFill>
              <a:latin typeface="Calibri"/>
              <a:ea typeface="Calibri"/>
              <a:cs typeface="Calibri"/>
              <a:sym typeface="Calibri"/>
            </a:endParaRPr>
          </a:p>
        </p:txBody>
      </p:sp>
      <p:sp>
        <p:nvSpPr>
          <p:cNvPr id="230" name="Google Shape;230;p11"/>
          <p:cNvSpPr/>
          <p:nvPr/>
        </p:nvSpPr>
        <p:spPr>
          <a:xfrm>
            <a:off x="7086600" y="1920240"/>
            <a:ext cx="4556455" cy="24688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99,855 of 300,000 shipments are late — a 33.29% late-delivery rate.</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Mumbai has the highest absolute late-shipment count.</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Pune has the highest return rate at 5.04%.</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Refunds total ₹75.96M.</a:t>
            </a:r>
            <a:endParaRPr b="0" i="0" sz="13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350"/>
              <a:buFont typeface="Calibri"/>
              <a:buChar char="▪"/>
            </a:pPr>
            <a:r>
              <a:rPr b="0" i="0" lang="en-US" sz="1350" u="none" cap="none" strike="noStrike">
                <a:solidFill>
                  <a:srgbClr val="0D1B2A"/>
                </a:solidFill>
                <a:latin typeface="Calibri"/>
                <a:ea typeface="Calibri"/>
                <a:cs typeface="Calibri"/>
                <a:sym typeface="Calibri"/>
              </a:rPr>
              <a:t>29,251 order items were returned.</a:t>
            </a:r>
            <a:endParaRPr b="0" i="0" sz="1350" u="none" cap="none" strike="noStrike">
              <a:solidFill>
                <a:schemeClr val="dk1"/>
              </a:solidFill>
              <a:latin typeface="Calibri"/>
              <a:ea typeface="Calibri"/>
              <a:cs typeface="Calibri"/>
              <a:sym typeface="Calibri"/>
            </a:endParaRPr>
          </a:p>
        </p:txBody>
      </p:sp>
      <p:sp>
        <p:nvSpPr>
          <p:cNvPr id="231" name="Google Shape;231;p11"/>
          <p:cNvSpPr/>
          <p:nvPr/>
        </p:nvSpPr>
        <p:spPr>
          <a:xfrm>
            <a:off x="7086600" y="4526280"/>
            <a:ext cx="4556455" cy="18288"/>
          </a:xfrm>
          <a:prstGeom prst="rect">
            <a:avLst/>
          </a:prstGeom>
          <a:solidFill>
            <a:srgbClr val="D7E2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7086600" y="4663440"/>
            <a:ext cx="4556455"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100"/>
              <a:buFont typeface="Calibri"/>
              <a:buNone/>
            </a:pPr>
            <a:r>
              <a:rPr b="1" i="0" lang="en-US" sz="1100" u="none" cap="none" strike="noStrike">
                <a:solidFill>
                  <a:srgbClr val="2E74B5"/>
                </a:solidFill>
                <a:latin typeface="Calibri"/>
                <a:ea typeface="Calibri"/>
                <a:cs typeface="Calibri"/>
                <a:sym typeface="Calibri"/>
              </a:rPr>
              <a:t>MANAGEMENT CONCLUSION</a:t>
            </a:r>
            <a:endParaRPr b="0" i="0" sz="1100" u="none" cap="none" strike="noStrike">
              <a:solidFill>
                <a:schemeClr val="dk1"/>
              </a:solidFill>
              <a:latin typeface="Calibri"/>
              <a:ea typeface="Calibri"/>
              <a:cs typeface="Calibri"/>
              <a:sym typeface="Calibri"/>
            </a:endParaRPr>
          </a:p>
        </p:txBody>
      </p:sp>
      <p:sp>
        <p:nvSpPr>
          <p:cNvPr id="233" name="Google Shape;233;p11"/>
          <p:cNvSpPr/>
          <p:nvPr/>
        </p:nvSpPr>
        <p:spPr>
          <a:xfrm>
            <a:off x="7086600" y="4937760"/>
            <a:ext cx="4556455"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0" i="0" lang="en-US" sz="1100" u="none" cap="none" strike="noStrike">
                <a:solidFill>
                  <a:srgbClr val="0D1B2A"/>
                </a:solidFill>
                <a:latin typeface="Calibri"/>
                <a:ea typeface="Calibri"/>
                <a:cs typeface="Calibri"/>
                <a:sym typeface="Calibri"/>
              </a:rPr>
              <a:t>Operations analysis reveals a significant delivery challenge at a 33.29% late-delivery rate. Mumbai records the highest absolute late shipments while Pune has the highest return rate. Delivery reliability and return reduction are key operational priorities.</a:t>
            </a:r>
            <a:endParaRPr b="0" i="0" sz="1100" u="none" cap="none" strike="noStrike">
              <a:solidFill>
                <a:schemeClr val="dk1"/>
              </a:solidFill>
              <a:latin typeface="Calibri"/>
              <a:ea typeface="Calibri"/>
              <a:cs typeface="Calibri"/>
              <a:sym typeface="Calibri"/>
            </a:endParaRPr>
          </a:p>
        </p:txBody>
      </p:sp>
      <p:sp>
        <p:nvSpPr>
          <p:cNvPr id="234" name="Google Shape;234;p11"/>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235" name="Google Shape;235;p11"/>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12"/>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VALIDATION</a:t>
            </a:r>
            <a:endParaRPr b="0" i="0" sz="1300" u="none" cap="none" strike="noStrike">
              <a:solidFill>
                <a:schemeClr val="dk1"/>
              </a:solidFill>
              <a:latin typeface="Calibri"/>
              <a:ea typeface="Calibri"/>
              <a:cs typeface="Calibri"/>
              <a:sym typeface="Calibri"/>
            </a:endParaRPr>
          </a:p>
        </p:txBody>
      </p:sp>
      <p:sp>
        <p:nvSpPr>
          <p:cNvPr id="242" name="Google Shape;242;p12"/>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Consolidated Validated KPI Register</a:t>
            </a:r>
            <a:endParaRPr b="0" i="0" sz="3000" u="none" cap="none" strike="noStrike">
              <a:solidFill>
                <a:schemeClr val="dk1"/>
              </a:solidFill>
              <a:latin typeface="Calibri"/>
              <a:ea typeface="Calibri"/>
              <a:cs typeface="Calibri"/>
              <a:sym typeface="Calibri"/>
            </a:endParaRPr>
          </a:p>
        </p:txBody>
      </p:sp>
      <p:sp>
        <p:nvSpPr>
          <p:cNvPr id="243" name="Google Shape;243;p12"/>
          <p:cNvSpPr/>
          <p:nvPr/>
        </p:nvSpPr>
        <p:spPr>
          <a:xfrm>
            <a:off x="548640" y="1508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1300"/>
              <a:buFont typeface="Calibri"/>
              <a:buNone/>
            </a:pPr>
            <a:r>
              <a:rPr b="0" i="0" lang="en-US" sz="1300" u="none" cap="none" strike="noStrike">
                <a:solidFill>
                  <a:srgbClr val="5B6470"/>
                </a:solidFill>
                <a:latin typeface="Calibri"/>
                <a:ea typeface="Calibri"/>
                <a:cs typeface="Calibri"/>
                <a:sym typeface="Calibri"/>
              </a:rPr>
              <a:t>All major Power BI KPIs and analytical outputs were reconciled against SQL before finalization.</a:t>
            </a:r>
            <a:endParaRPr b="0" i="0" sz="1300" u="none" cap="none" strike="noStrike">
              <a:solidFill>
                <a:schemeClr val="dk1"/>
              </a:solidFill>
              <a:latin typeface="Calibri"/>
              <a:ea typeface="Calibri"/>
              <a:cs typeface="Calibri"/>
              <a:sym typeface="Calibri"/>
            </a:endParaRPr>
          </a:p>
        </p:txBody>
      </p:sp>
      <p:graphicFrame>
        <p:nvGraphicFramePr>
          <p:cNvPr id="244" name="Google Shape;244;p12"/>
          <p:cNvGraphicFramePr/>
          <p:nvPr/>
        </p:nvGraphicFramePr>
        <p:xfrm>
          <a:off x="658240" y="2011680"/>
          <a:ext cx="3000000" cy="3000000"/>
        </p:xfrm>
        <a:graphic>
          <a:graphicData uri="http://schemas.openxmlformats.org/drawingml/2006/table">
            <a:tbl>
              <a:tblPr>
                <a:noFill/>
                <a:tableStyleId>{91289AAA-7F23-49BC-BC7E-C14AFD6A27FA}</a:tableStyleId>
              </a:tblPr>
              <a:tblGrid>
                <a:gridCol w="3249525"/>
                <a:gridCol w="4580250"/>
                <a:gridCol w="3033450"/>
              </a:tblGrid>
              <a:tr h="42062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Dashboard</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Metric</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1F3864"/>
                    </a:solidFill>
                  </a:tcPr>
                </a:tc>
                <a:tc>
                  <a:txBody>
                    <a:bodyPr/>
                    <a:lstStyle/>
                    <a:p>
                      <a:pPr indent="0" lvl="0" marL="0" marR="0" rtl="0" algn="r">
                        <a:spcBef>
                          <a:spcPts val="0"/>
                        </a:spcBef>
                        <a:spcAft>
                          <a:spcPts val="0"/>
                        </a:spcAft>
                        <a:buClr>
                          <a:srgbClr val="FFFFFF"/>
                        </a:buClr>
                        <a:buSzPts val="1300"/>
                        <a:buFont typeface="Calibri"/>
                        <a:buNone/>
                      </a:pPr>
                      <a:r>
                        <a:rPr b="1" lang="en-US" sz="1300" u="none" cap="none" strike="noStrike">
                          <a:solidFill>
                            <a:srgbClr val="FFFFFF"/>
                          </a:solidFill>
                        </a:rPr>
                        <a:t>Value</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1F3864"/>
                    </a:solidFill>
                  </a:tcPr>
                </a:tc>
              </a:tr>
              <a:tr h="420625">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D1 Executive</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Gross Sales</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300"/>
                        <a:buFont typeface="Calibri"/>
                        <a:buNone/>
                      </a:pPr>
                      <a:r>
                        <a:rPr lang="en-US" sz="1300" u="none" cap="none" strike="noStrike">
                          <a:solidFill>
                            <a:srgbClr val="0D1B2A"/>
                          </a:solidFill>
                        </a:rPr>
                        <a:t>~</a:t>
                      </a:r>
                      <a:r>
                        <a:rPr lang="en-US" sz="1300">
                          <a:solidFill>
                            <a:srgbClr val="0D1B2A"/>
                          </a:solidFill>
                        </a:rPr>
                        <a:t>₹</a:t>
                      </a:r>
                      <a:r>
                        <a:rPr lang="en-US" sz="1300" u="none" cap="none" strike="noStrike">
                          <a:solidFill>
                            <a:srgbClr val="0D1B2A"/>
                          </a:solidFill>
                        </a:rPr>
                        <a:t>3.83B</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D1 Executive</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YoY Growth</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300"/>
                        <a:buFont typeface="Calibri"/>
                        <a:buNone/>
                      </a:pPr>
                      <a:r>
                        <a:rPr lang="en-US" sz="1300" u="none" cap="none" strike="noStrike">
                          <a:solidFill>
                            <a:srgbClr val="0D1B2A"/>
                          </a:solidFill>
                        </a:rPr>
                        <a:t>29.77%</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r h="420625">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D2 Store</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Top Market</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300"/>
                        <a:buFont typeface="Calibri"/>
                        <a:buNone/>
                      </a:pPr>
                      <a:r>
                        <a:rPr lang="en-US" sz="1300" u="none" cap="none" strike="noStrike">
                          <a:solidFill>
                            <a:srgbClr val="0D1B2A"/>
                          </a:solidFill>
                        </a:rPr>
                        <a:t>Mumbai (~31%)</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D3 Product</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Top Product / Category</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300"/>
                        <a:buFont typeface="Calibri"/>
                        <a:buNone/>
                      </a:pPr>
                      <a:r>
                        <a:rPr lang="en-US" sz="1300" u="none" cap="none" strike="noStrike">
                          <a:solidFill>
                            <a:srgbClr val="0D1B2A"/>
                          </a:solidFill>
                        </a:rPr>
                        <a:t>745 / Cat_5</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r h="420625">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D4 Customer</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Repeat Rate</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300"/>
                        <a:buFont typeface="Calibri"/>
                        <a:buNone/>
                      </a:pPr>
                      <a:r>
                        <a:rPr lang="en-US" sz="1300" u="none" cap="none" strike="noStrike">
                          <a:solidFill>
                            <a:srgbClr val="0D1B2A"/>
                          </a:solidFill>
                        </a:rPr>
                        <a:t>98.56%</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D4 Customer</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Avg Customer Value</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300"/>
                        <a:buFont typeface="Calibri"/>
                        <a:buNone/>
                      </a:pPr>
                      <a:r>
                        <a:rPr lang="en-US" sz="1300" u="none" cap="none" strike="noStrike">
                          <a:solidFill>
                            <a:srgbClr val="0D1B2A"/>
                          </a:solidFill>
                        </a:rPr>
                        <a:t>₹76.73K</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r h="420625">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D5 Operations</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Late Delivery Rate</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D1B2A"/>
                        </a:buClr>
                        <a:buSzPts val="1300"/>
                        <a:buFont typeface="Calibri"/>
                        <a:buNone/>
                      </a:pPr>
                      <a:r>
                        <a:rPr lang="en-US" sz="1300" u="none" cap="none" strike="noStrike">
                          <a:solidFill>
                            <a:srgbClr val="0D1B2A"/>
                          </a:solidFill>
                        </a:rPr>
                        <a:t>33.29%</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D5 Operations</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l">
                        <a:spcBef>
                          <a:spcPts val="0"/>
                        </a:spcBef>
                        <a:spcAft>
                          <a:spcPts val="0"/>
                        </a:spcAft>
                        <a:buClr>
                          <a:srgbClr val="0D1B2A"/>
                        </a:buClr>
                        <a:buSzPts val="1300"/>
                        <a:buFont typeface="Calibri"/>
                        <a:buNone/>
                      </a:pPr>
                      <a:r>
                        <a:rPr lang="en-US" sz="1300" u="none" cap="none" strike="noStrike">
                          <a:solidFill>
                            <a:srgbClr val="0D1B2A"/>
                          </a:solidFill>
                        </a:rPr>
                        <a:t>Refunds</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c>
                  <a:txBody>
                    <a:bodyPr/>
                    <a:lstStyle/>
                    <a:p>
                      <a:pPr indent="0" lvl="0" marL="0" marR="0" rtl="0" algn="r">
                        <a:spcBef>
                          <a:spcPts val="0"/>
                        </a:spcBef>
                        <a:spcAft>
                          <a:spcPts val="0"/>
                        </a:spcAft>
                        <a:buClr>
                          <a:srgbClr val="0D1B2A"/>
                        </a:buClr>
                        <a:buSzPts val="1300"/>
                        <a:buFont typeface="Calibri"/>
                        <a:buNone/>
                      </a:pPr>
                      <a:r>
                        <a:rPr lang="en-US" sz="1300" u="none" cap="none" strike="noStrike">
                          <a:solidFill>
                            <a:srgbClr val="0D1B2A"/>
                          </a:solidFill>
                        </a:rPr>
                        <a:t>₹75.96M</a:t>
                      </a:r>
                      <a:endParaRPr sz="1300" u="none" cap="none" strike="noStrike"/>
                    </a:p>
                  </a:txBody>
                  <a:tcPr marT="45725" marB="45725" marR="91450" marL="91450" anchor="ctr">
                    <a:lnL cap="flat" cmpd="sng" w="9525">
                      <a:solidFill>
                        <a:srgbClr val="D7E2F0"/>
                      </a:solidFill>
                      <a:prstDash val="solid"/>
                      <a:round/>
                      <a:headEnd len="sm" w="sm" type="none"/>
                      <a:tailEnd len="sm" w="sm" type="none"/>
                    </a:lnL>
                    <a:lnR cap="flat" cmpd="sng" w="9525">
                      <a:solidFill>
                        <a:srgbClr val="D7E2F0"/>
                      </a:solidFill>
                      <a:prstDash val="solid"/>
                      <a:round/>
                      <a:headEnd len="sm" w="sm" type="none"/>
                      <a:tailEnd len="sm" w="sm" type="none"/>
                    </a:lnR>
                    <a:lnT cap="flat" cmpd="sng" w="9525">
                      <a:solidFill>
                        <a:srgbClr val="D7E2F0"/>
                      </a:solidFill>
                      <a:prstDash val="solid"/>
                      <a:round/>
                      <a:headEnd len="sm" w="sm" type="none"/>
                      <a:tailEnd len="sm" w="sm" type="none"/>
                    </a:lnT>
                    <a:lnB cap="flat" cmpd="sng" w="9525">
                      <a:solidFill>
                        <a:srgbClr val="D7E2F0"/>
                      </a:solidFill>
                      <a:prstDash val="solid"/>
                      <a:round/>
                      <a:headEnd len="sm" w="sm" type="none"/>
                      <a:tailEnd len="sm" w="sm" type="none"/>
                    </a:lnB>
                    <a:solidFill>
                      <a:srgbClr val="EEF3FA"/>
                    </a:solidFill>
                  </a:tcPr>
                </a:tc>
              </a:tr>
            </a:tbl>
          </a:graphicData>
        </a:graphic>
      </p:graphicFrame>
      <p:sp>
        <p:nvSpPr>
          <p:cNvPr id="245" name="Google Shape;245;p12"/>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246" name="Google Shape;246;p12"/>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13"/>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ACTION PLAN</a:t>
            </a:r>
            <a:endParaRPr b="0" i="0" sz="1300" u="none" cap="none" strike="noStrike">
              <a:solidFill>
                <a:schemeClr val="dk1"/>
              </a:solidFill>
              <a:latin typeface="Calibri"/>
              <a:ea typeface="Calibri"/>
              <a:cs typeface="Calibri"/>
              <a:sym typeface="Calibri"/>
            </a:endParaRPr>
          </a:p>
        </p:txBody>
      </p:sp>
      <p:sp>
        <p:nvSpPr>
          <p:cNvPr id="253" name="Google Shape;253;p13"/>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Business Recommendations</a:t>
            </a:r>
            <a:endParaRPr b="0" i="0" sz="3000" u="none" cap="none" strike="noStrike">
              <a:solidFill>
                <a:schemeClr val="dk1"/>
              </a:solidFill>
              <a:latin typeface="Calibri"/>
              <a:ea typeface="Calibri"/>
              <a:cs typeface="Calibri"/>
              <a:sym typeface="Calibri"/>
            </a:endParaRPr>
          </a:p>
        </p:txBody>
      </p:sp>
      <p:sp>
        <p:nvSpPr>
          <p:cNvPr id="254" name="Google Shape;254;p13"/>
          <p:cNvSpPr/>
          <p:nvPr/>
        </p:nvSpPr>
        <p:spPr>
          <a:xfrm>
            <a:off x="548640" y="1600200"/>
            <a:ext cx="5486400" cy="1298448"/>
          </a:xfrm>
          <a:prstGeom prst="roundRect">
            <a:avLst>
              <a:gd fmla="val 3521" name="adj"/>
            </a:avLst>
          </a:prstGeom>
          <a:solidFill>
            <a:srgbClr val="EEF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685800" y="1737360"/>
            <a:ext cx="384048" cy="384048"/>
          </a:xfrm>
          <a:prstGeom prst="ellipse">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p:nvPr/>
        </p:nvSpPr>
        <p:spPr>
          <a:xfrm>
            <a:off x="685800" y="1737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257" name="Google Shape;257;p13"/>
          <p:cNvSpPr/>
          <p:nvPr/>
        </p:nvSpPr>
        <p:spPr>
          <a:xfrm>
            <a:off x="1188720" y="169164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350"/>
              <a:buFont typeface="Calibri"/>
              <a:buNone/>
            </a:pPr>
            <a:r>
              <a:rPr b="1" i="0" lang="en-US" sz="1350" u="none" cap="none" strike="noStrike">
                <a:solidFill>
                  <a:srgbClr val="1F3864"/>
                </a:solidFill>
                <a:latin typeface="Calibri"/>
                <a:ea typeface="Calibri"/>
                <a:cs typeface="Calibri"/>
                <a:sym typeface="Calibri"/>
              </a:rPr>
              <a:t>Improve Delivery Reliability</a:t>
            </a:r>
            <a:endParaRPr b="0" i="0" sz="1350" u="none" cap="none" strike="noStrike">
              <a:solidFill>
                <a:schemeClr val="dk1"/>
              </a:solidFill>
              <a:latin typeface="Calibri"/>
              <a:ea typeface="Calibri"/>
              <a:cs typeface="Calibri"/>
              <a:sym typeface="Calibri"/>
            </a:endParaRPr>
          </a:p>
        </p:txBody>
      </p:sp>
      <p:sp>
        <p:nvSpPr>
          <p:cNvPr id="258" name="Google Shape;258;p13"/>
          <p:cNvSpPr/>
          <p:nvPr/>
        </p:nvSpPr>
        <p:spPr>
          <a:xfrm>
            <a:off x="5074920" y="17099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00000"/>
              </a:buClr>
              <a:buSzPts val="950"/>
              <a:buFont typeface="Calibri"/>
              <a:buNone/>
            </a:pPr>
            <a:r>
              <a:rPr b="1" i="0" lang="en-US" sz="950" u="none" cap="none" strike="noStrike">
                <a:solidFill>
                  <a:srgbClr val="C00000"/>
                </a:solidFill>
                <a:latin typeface="Calibri"/>
                <a:ea typeface="Calibri"/>
                <a:cs typeface="Calibri"/>
                <a:sym typeface="Calibri"/>
              </a:rPr>
              <a:t>High</a:t>
            </a:r>
            <a:endParaRPr b="0" i="0" sz="950" u="none" cap="none" strike="noStrike">
              <a:solidFill>
                <a:schemeClr val="dk1"/>
              </a:solidFill>
              <a:latin typeface="Calibri"/>
              <a:ea typeface="Calibri"/>
              <a:cs typeface="Calibri"/>
              <a:sym typeface="Calibri"/>
            </a:endParaRPr>
          </a:p>
        </p:txBody>
      </p:sp>
      <p:sp>
        <p:nvSpPr>
          <p:cNvPr id="259" name="Google Shape;259;p13"/>
          <p:cNvSpPr/>
          <p:nvPr/>
        </p:nvSpPr>
        <p:spPr>
          <a:xfrm>
            <a:off x="1188720" y="2039112"/>
            <a:ext cx="47091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050"/>
              <a:buFont typeface="Calibri"/>
              <a:buNone/>
            </a:pPr>
            <a:r>
              <a:rPr b="0" i="0" lang="en-US" sz="1050" u="none" cap="none" strike="noStrike">
                <a:solidFill>
                  <a:srgbClr val="0D1B2A"/>
                </a:solidFill>
                <a:latin typeface="Calibri"/>
                <a:ea typeface="Calibri"/>
                <a:cs typeface="Calibri"/>
                <a:sym typeface="Calibri"/>
              </a:rPr>
              <a:t>Reduce the 33.29% late-delivery rate via monthly targets and bottleneck analysis.</a:t>
            </a:r>
            <a:endParaRPr b="0" i="0" sz="1050" u="none" cap="none" strike="noStrike">
              <a:solidFill>
                <a:schemeClr val="dk1"/>
              </a:solidFill>
              <a:latin typeface="Calibri"/>
              <a:ea typeface="Calibri"/>
              <a:cs typeface="Calibri"/>
              <a:sym typeface="Calibri"/>
            </a:endParaRPr>
          </a:p>
        </p:txBody>
      </p:sp>
      <p:sp>
        <p:nvSpPr>
          <p:cNvPr id="260" name="Google Shape;260;p13"/>
          <p:cNvSpPr/>
          <p:nvPr/>
        </p:nvSpPr>
        <p:spPr>
          <a:xfrm>
            <a:off x="6355080" y="1600200"/>
            <a:ext cx="5486400" cy="1298448"/>
          </a:xfrm>
          <a:prstGeom prst="roundRect">
            <a:avLst>
              <a:gd fmla="val 3521" name="adj"/>
            </a:avLst>
          </a:prstGeom>
          <a:solidFill>
            <a:srgbClr val="EEF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6492240" y="1737360"/>
            <a:ext cx="384048" cy="384048"/>
          </a:xfrm>
          <a:prstGeom prst="ellipse">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6492240" y="1737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263" name="Google Shape;263;p13"/>
          <p:cNvSpPr/>
          <p:nvPr/>
        </p:nvSpPr>
        <p:spPr>
          <a:xfrm>
            <a:off x="6995160" y="169164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350"/>
              <a:buFont typeface="Calibri"/>
              <a:buNone/>
            </a:pPr>
            <a:r>
              <a:rPr b="1" i="0" lang="en-US" sz="1350" u="none" cap="none" strike="noStrike">
                <a:solidFill>
                  <a:srgbClr val="1F3864"/>
                </a:solidFill>
                <a:latin typeface="Calibri"/>
                <a:ea typeface="Calibri"/>
                <a:cs typeface="Calibri"/>
                <a:sym typeface="Calibri"/>
              </a:rPr>
              <a:t>Increase Customer Value</a:t>
            </a:r>
            <a:endParaRPr b="0" i="0" sz="1350" u="none" cap="none" strike="noStrike">
              <a:solidFill>
                <a:schemeClr val="dk1"/>
              </a:solidFill>
              <a:latin typeface="Calibri"/>
              <a:ea typeface="Calibri"/>
              <a:cs typeface="Calibri"/>
              <a:sym typeface="Calibri"/>
            </a:endParaRPr>
          </a:p>
        </p:txBody>
      </p:sp>
      <p:sp>
        <p:nvSpPr>
          <p:cNvPr id="264" name="Google Shape;264;p13"/>
          <p:cNvSpPr/>
          <p:nvPr/>
        </p:nvSpPr>
        <p:spPr>
          <a:xfrm>
            <a:off x="10881360" y="17099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00000"/>
              </a:buClr>
              <a:buSzPts val="950"/>
              <a:buFont typeface="Calibri"/>
              <a:buNone/>
            </a:pPr>
            <a:r>
              <a:rPr b="1" i="0" lang="en-US" sz="950" u="none" cap="none" strike="noStrike">
                <a:solidFill>
                  <a:srgbClr val="C00000"/>
                </a:solidFill>
                <a:latin typeface="Calibri"/>
                <a:ea typeface="Calibri"/>
                <a:cs typeface="Calibri"/>
                <a:sym typeface="Calibri"/>
              </a:rPr>
              <a:t>High</a:t>
            </a:r>
            <a:endParaRPr b="0" i="0" sz="950" u="none" cap="none" strike="noStrike">
              <a:solidFill>
                <a:schemeClr val="dk1"/>
              </a:solidFill>
              <a:latin typeface="Calibri"/>
              <a:ea typeface="Calibri"/>
              <a:cs typeface="Calibri"/>
              <a:sym typeface="Calibri"/>
            </a:endParaRPr>
          </a:p>
        </p:txBody>
      </p:sp>
      <p:sp>
        <p:nvSpPr>
          <p:cNvPr id="265" name="Google Shape;265;p13"/>
          <p:cNvSpPr/>
          <p:nvPr/>
        </p:nvSpPr>
        <p:spPr>
          <a:xfrm>
            <a:off x="6995160" y="2039112"/>
            <a:ext cx="47091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050"/>
              <a:buFont typeface="Calibri"/>
              <a:buNone/>
            </a:pPr>
            <a:r>
              <a:rPr b="0" i="0" lang="en-US" sz="1050" u="none" cap="none" strike="noStrike">
                <a:solidFill>
                  <a:srgbClr val="0D1B2A"/>
                </a:solidFill>
                <a:latin typeface="Calibri"/>
                <a:ea typeface="Calibri"/>
                <a:cs typeface="Calibri"/>
                <a:sym typeface="Calibri"/>
              </a:rPr>
              <a:t>Leverage 98.56% repeat rate with loyalty, cross-sell and upsell programs.</a:t>
            </a:r>
            <a:endParaRPr b="0" i="0" sz="1050" u="none" cap="none" strike="noStrike">
              <a:solidFill>
                <a:schemeClr val="dk1"/>
              </a:solidFill>
              <a:latin typeface="Calibri"/>
              <a:ea typeface="Calibri"/>
              <a:cs typeface="Calibri"/>
              <a:sym typeface="Calibri"/>
            </a:endParaRPr>
          </a:p>
        </p:txBody>
      </p:sp>
      <p:sp>
        <p:nvSpPr>
          <p:cNvPr id="266" name="Google Shape;266;p13"/>
          <p:cNvSpPr/>
          <p:nvPr/>
        </p:nvSpPr>
        <p:spPr>
          <a:xfrm>
            <a:off x="548640" y="3063240"/>
            <a:ext cx="5486400" cy="1298448"/>
          </a:xfrm>
          <a:prstGeom prst="roundRect">
            <a:avLst>
              <a:gd fmla="val 3521" name="adj"/>
            </a:avLst>
          </a:prstGeom>
          <a:solidFill>
            <a:srgbClr val="EEF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
          <p:cNvSpPr/>
          <p:nvPr/>
        </p:nvSpPr>
        <p:spPr>
          <a:xfrm>
            <a:off x="685800" y="3200400"/>
            <a:ext cx="384048" cy="384048"/>
          </a:xfrm>
          <a:prstGeom prst="ellipse">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p:nvPr/>
        </p:nvSpPr>
        <p:spPr>
          <a:xfrm>
            <a:off x="685800" y="320040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269" name="Google Shape;269;p13"/>
          <p:cNvSpPr/>
          <p:nvPr/>
        </p:nvSpPr>
        <p:spPr>
          <a:xfrm>
            <a:off x="1188720" y="315468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350"/>
              <a:buFont typeface="Calibri"/>
              <a:buNone/>
            </a:pPr>
            <a:r>
              <a:rPr b="1" i="0" lang="en-US" sz="1350" u="none" cap="none" strike="noStrike">
                <a:solidFill>
                  <a:srgbClr val="1F3864"/>
                </a:solidFill>
                <a:latin typeface="Calibri"/>
                <a:ea typeface="Calibri"/>
                <a:cs typeface="Calibri"/>
                <a:sym typeface="Calibri"/>
              </a:rPr>
              <a:t>Reduce Avoidable Returns</a:t>
            </a:r>
            <a:endParaRPr b="0" i="0" sz="1350" u="none" cap="none" strike="noStrike">
              <a:solidFill>
                <a:schemeClr val="dk1"/>
              </a:solidFill>
              <a:latin typeface="Calibri"/>
              <a:ea typeface="Calibri"/>
              <a:cs typeface="Calibri"/>
              <a:sym typeface="Calibri"/>
            </a:endParaRPr>
          </a:p>
        </p:txBody>
      </p:sp>
      <p:sp>
        <p:nvSpPr>
          <p:cNvPr id="270" name="Google Shape;270;p13"/>
          <p:cNvSpPr/>
          <p:nvPr/>
        </p:nvSpPr>
        <p:spPr>
          <a:xfrm>
            <a:off x="5074920" y="317296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45F06"/>
              </a:buClr>
              <a:buSzPts val="950"/>
              <a:buFont typeface="Calibri"/>
              <a:buNone/>
            </a:pPr>
            <a:r>
              <a:rPr b="1" i="0" lang="en-US" sz="950" u="none" cap="none" strike="noStrike">
                <a:solidFill>
                  <a:srgbClr val="B45F06"/>
                </a:solidFill>
                <a:latin typeface="Calibri"/>
                <a:ea typeface="Calibri"/>
                <a:cs typeface="Calibri"/>
                <a:sym typeface="Calibri"/>
              </a:rPr>
              <a:t>Medium</a:t>
            </a:r>
            <a:endParaRPr b="0" i="0" sz="950" u="none" cap="none" strike="noStrike">
              <a:solidFill>
                <a:schemeClr val="dk1"/>
              </a:solidFill>
              <a:latin typeface="Calibri"/>
              <a:ea typeface="Calibri"/>
              <a:cs typeface="Calibri"/>
              <a:sym typeface="Calibri"/>
            </a:endParaRPr>
          </a:p>
        </p:txBody>
      </p:sp>
      <p:sp>
        <p:nvSpPr>
          <p:cNvPr id="271" name="Google Shape;271;p13"/>
          <p:cNvSpPr/>
          <p:nvPr/>
        </p:nvSpPr>
        <p:spPr>
          <a:xfrm>
            <a:off x="1188720" y="3502152"/>
            <a:ext cx="47091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050"/>
              <a:buFont typeface="Calibri"/>
              <a:buNone/>
            </a:pPr>
            <a:r>
              <a:rPr b="0" i="0" lang="en-US" sz="1050" u="none" cap="none" strike="noStrike">
                <a:solidFill>
                  <a:srgbClr val="0D1B2A"/>
                </a:solidFill>
                <a:latin typeface="Calibri"/>
                <a:ea typeface="Calibri"/>
                <a:cs typeface="Calibri"/>
                <a:sym typeface="Calibri"/>
              </a:rPr>
              <a:t>Investigate high-return products, categories and cities to cut refund cost.</a:t>
            </a:r>
            <a:endParaRPr b="0" i="0" sz="1050" u="none" cap="none" strike="noStrike">
              <a:solidFill>
                <a:schemeClr val="dk1"/>
              </a:solidFill>
              <a:latin typeface="Calibri"/>
              <a:ea typeface="Calibri"/>
              <a:cs typeface="Calibri"/>
              <a:sym typeface="Calibri"/>
            </a:endParaRPr>
          </a:p>
        </p:txBody>
      </p:sp>
      <p:sp>
        <p:nvSpPr>
          <p:cNvPr id="272" name="Google Shape;272;p13"/>
          <p:cNvSpPr/>
          <p:nvPr/>
        </p:nvSpPr>
        <p:spPr>
          <a:xfrm>
            <a:off x="6355080" y="3063240"/>
            <a:ext cx="5486400" cy="1298448"/>
          </a:xfrm>
          <a:prstGeom prst="roundRect">
            <a:avLst>
              <a:gd fmla="val 3521" name="adj"/>
            </a:avLst>
          </a:prstGeom>
          <a:solidFill>
            <a:srgbClr val="EEF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3"/>
          <p:cNvSpPr/>
          <p:nvPr/>
        </p:nvSpPr>
        <p:spPr>
          <a:xfrm>
            <a:off x="6492240" y="3200400"/>
            <a:ext cx="384048" cy="384048"/>
          </a:xfrm>
          <a:prstGeom prst="ellipse">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3"/>
          <p:cNvSpPr/>
          <p:nvPr/>
        </p:nvSpPr>
        <p:spPr>
          <a:xfrm>
            <a:off x="6492240" y="320040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275" name="Google Shape;275;p13"/>
          <p:cNvSpPr/>
          <p:nvPr/>
        </p:nvSpPr>
        <p:spPr>
          <a:xfrm>
            <a:off x="6995160" y="315468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350"/>
              <a:buFont typeface="Calibri"/>
              <a:buNone/>
            </a:pPr>
            <a:r>
              <a:rPr b="1" i="0" lang="en-US" sz="1350" u="none" cap="none" strike="noStrike">
                <a:solidFill>
                  <a:srgbClr val="1F3864"/>
                </a:solidFill>
                <a:latin typeface="Calibri"/>
                <a:ea typeface="Calibri"/>
                <a:cs typeface="Calibri"/>
                <a:sym typeface="Calibri"/>
              </a:rPr>
              <a:t>Strengthen Market Performance</a:t>
            </a:r>
            <a:endParaRPr b="0" i="0" sz="1350" u="none" cap="none" strike="noStrike">
              <a:solidFill>
                <a:schemeClr val="dk1"/>
              </a:solidFill>
              <a:latin typeface="Calibri"/>
              <a:ea typeface="Calibri"/>
              <a:cs typeface="Calibri"/>
              <a:sym typeface="Calibri"/>
            </a:endParaRPr>
          </a:p>
        </p:txBody>
      </p:sp>
      <p:sp>
        <p:nvSpPr>
          <p:cNvPr id="276" name="Google Shape;276;p13"/>
          <p:cNvSpPr/>
          <p:nvPr/>
        </p:nvSpPr>
        <p:spPr>
          <a:xfrm>
            <a:off x="10881360" y="317296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45F06"/>
              </a:buClr>
              <a:buSzPts val="950"/>
              <a:buFont typeface="Calibri"/>
              <a:buNone/>
            </a:pPr>
            <a:r>
              <a:rPr b="1" i="0" lang="en-US" sz="950" u="none" cap="none" strike="noStrike">
                <a:solidFill>
                  <a:srgbClr val="B45F06"/>
                </a:solidFill>
                <a:latin typeface="Calibri"/>
                <a:ea typeface="Calibri"/>
                <a:cs typeface="Calibri"/>
                <a:sym typeface="Calibri"/>
              </a:rPr>
              <a:t>Medium</a:t>
            </a:r>
            <a:endParaRPr b="0" i="0" sz="950" u="none" cap="none" strike="noStrike">
              <a:solidFill>
                <a:schemeClr val="dk1"/>
              </a:solidFill>
              <a:latin typeface="Calibri"/>
              <a:ea typeface="Calibri"/>
              <a:cs typeface="Calibri"/>
              <a:sym typeface="Calibri"/>
            </a:endParaRPr>
          </a:p>
        </p:txBody>
      </p:sp>
      <p:sp>
        <p:nvSpPr>
          <p:cNvPr id="277" name="Google Shape;277;p13"/>
          <p:cNvSpPr/>
          <p:nvPr/>
        </p:nvSpPr>
        <p:spPr>
          <a:xfrm>
            <a:off x="6995160" y="3502152"/>
            <a:ext cx="47091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050"/>
              <a:buFont typeface="Calibri"/>
              <a:buNone/>
            </a:pPr>
            <a:r>
              <a:rPr b="0" i="0" lang="en-US" sz="1050" u="none" cap="none" strike="noStrike">
                <a:solidFill>
                  <a:srgbClr val="0D1B2A"/>
                </a:solidFill>
                <a:latin typeface="Calibri"/>
                <a:ea typeface="Calibri"/>
                <a:cs typeface="Calibri"/>
                <a:sym typeface="Calibri"/>
              </a:rPr>
              <a:t>Sustain Mumbai's lead; replicate its strategies in Pune, Delhi, Bangalore.</a:t>
            </a:r>
            <a:endParaRPr b="0" i="0" sz="1050" u="none" cap="none" strike="noStrike">
              <a:solidFill>
                <a:schemeClr val="dk1"/>
              </a:solidFill>
              <a:latin typeface="Calibri"/>
              <a:ea typeface="Calibri"/>
              <a:cs typeface="Calibri"/>
              <a:sym typeface="Calibri"/>
            </a:endParaRPr>
          </a:p>
        </p:txBody>
      </p:sp>
      <p:sp>
        <p:nvSpPr>
          <p:cNvPr id="278" name="Google Shape;278;p13"/>
          <p:cNvSpPr/>
          <p:nvPr/>
        </p:nvSpPr>
        <p:spPr>
          <a:xfrm>
            <a:off x="548640" y="4526280"/>
            <a:ext cx="5486400" cy="1298448"/>
          </a:xfrm>
          <a:prstGeom prst="roundRect">
            <a:avLst>
              <a:gd fmla="val 3521" name="adj"/>
            </a:avLst>
          </a:prstGeom>
          <a:solidFill>
            <a:srgbClr val="EEF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a:off x="685800" y="4663440"/>
            <a:ext cx="384048" cy="384048"/>
          </a:xfrm>
          <a:prstGeom prst="ellipse">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3"/>
          <p:cNvSpPr/>
          <p:nvPr/>
        </p:nvSpPr>
        <p:spPr>
          <a:xfrm>
            <a:off x="685800" y="466344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5</a:t>
            </a:r>
            <a:endParaRPr b="0" i="0" sz="1500" u="none" cap="none" strike="noStrike">
              <a:solidFill>
                <a:schemeClr val="dk1"/>
              </a:solidFill>
              <a:latin typeface="Calibri"/>
              <a:ea typeface="Calibri"/>
              <a:cs typeface="Calibri"/>
              <a:sym typeface="Calibri"/>
            </a:endParaRPr>
          </a:p>
        </p:txBody>
      </p:sp>
      <p:sp>
        <p:nvSpPr>
          <p:cNvPr id="281" name="Google Shape;281;p13"/>
          <p:cNvSpPr/>
          <p:nvPr/>
        </p:nvSpPr>
        <p:spPr>
          <a:xfrm>
            <a:off x="1188720" y="461772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350"/>
              <a:buFont typeface="Calibri"/>
              <a:buNone/>
            </a:pPr>
            <a:r>
              <a:rPr b="1" i="0" lang="en-US" sz="1350" u="none" cap="none" strike="noStrike">
                <a:solidFill>
                  <a:srgbClr val="1F3864"/>
                </a:solidFill>
                <a:latin typeface="Calibri"/>
                <a:ea typeface="Calibri"/>
                <a:cs typeface="Calibri"/>
                <a:sym typeface="Calibri"/>
              </a:rPr>
              <a:t>Optimize Product Portfolio</a:t>
            </a:r>
            <a:endParaRPr b="0" i="0" sz="1350" u="none" cap="none" strike="noStrike">
              <a:solidFill>
                <a:schemeClr val="dk1"/>
              </a:solidFill>
              <a:latin typeface="Calibri"/>
              <a:ea typeface="Calibri"/>
              <a:cs typeface="Calibri"/>
              <a:sym typeface="Calibri"/>
            </a:endParaRPr>
          </a:p>
        </p:txBody>
      </p:sp>
      <p:sp>
        <p:nvSpPr>
          <p:cNvPr id="282" name="Google Shape;282;p13"/>
          <p:cNvSpPr/>
          <p:nvPr/>
        </p:nvSpPr>
        <p:spPr>
          <a:xfrm>
            <a:off x="5074920" y="463600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45F06"/>
              </a:buClr>
              <a:buSzPts val="950"/>
              <a:buFont typeface="Calibri"/>
              <a:buNone/>
            </a:pPr>
            <a:r>
              <a:rPr b="1" i="0" lang="en-US" sz="950" u="none" cap="none" strike="noStrike">
                <a:solidFill>
                  <a:srgbClr val="B45F06"/>
                </a:solidFill>
                <a:latin typeface="Calibri"/>
                <a:ea typeface="Calibri"/>
                <a:cs typeface="Calibri"/>
                <a:sym typeface="Calibri"/>
              </a:rPr>
              <a:t>Medium</a:t>
            </a:r>
            <a:endParaRPr b="0" i="0" sz="950" u="none" cap="none" strike="noStrike">
              <a:solidFill>
                <a:schemeClr val="dk1"/>
              </a:solidFill>
              <a:latin typeface="Calibri"/>
              <a:ea typeface="Calibri"/>
              <a:cs typeface="Calibri"/>
              <a:sym typeface="Calibri"/>
            </a:endParaRPr>
          </a:p>
        </p:txBody>
      </p:sp>
      <p:sp>
        <p:nvSpPr>
          <p:cNvPr id="283" name="Google Shape;283;p13"/>
          <p:cNvSpPr/>
          <p:nvPr/>
        </p:nvSpPr>
        <p:spPr>
          <a:xfrm>
            <a:off x="1188720" y="4965192"/>
            <a:ext cx="47091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050"/>
              <a:buFont typeface="Calibri"/>
              <a:buNone/>
            </a:pPr>
            <a:r>
              <a:rPr b="0" i="0" lang="en-US" sz="1050" u="none" cap="none" strike="noStrike">
                <a:solidFill>
                  <a:srgbClr val="0D1B2A"/>
                </a:solidFill>
                <a:latin typeface="Calibri"/>
                <a:ea typeface="Calibri"/>
                <a:cs typeface="Calibri"/>
                <a:sym typeface="Calibri"/>
              </a:rPr>
              <a:t>Identify high/low performers among ~10K products for SKU rationalization.</a:t>
            </a:r>
            <a:endParaRPr b="0" i="0" sz="1050" u="none" cap="none" strike="noStrike">
              <a:solidFill>
                <a:schemeClr val="dk1"/>
              </a:solidFill>
              <a:latin typeface="Calibri"/>
              <a:ea typeface="Calibri"/>
              <a:cs typeface="Calibri"/>
              <a:sym typeface="Calibri"/>
            </a:endParaRPr>
          </a:p>
        </p:txBody>
      </p:sp>
      <p:sp>
        <p:nvSpPr>
          <p:cNvPr id="284" name="Google Shape;284;p13"/>
          <p:cNvSpPr/>
          <p:nvPr/>
        </p:nvSpPr>
        <p:spPr>
          <a:xfrm>
            <a:off x="6355080" y="4526280"/>
            <a:ext cx="5486400" cy="1298448"/>
          </a:xfrm>
          <a:prstGeom prst="roundRect">
            <a:avLst>
              <a:gd fmla="val 3521" name="adj"/>
            </a:avLst>
          </a:prstGeom>
          <a:solidFill>
            <a:srgbClr val="EEF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3"/>
          <p:cNvSpPr/>
          <p:nvPr/>
        </p:nvSpPr>
        <p:spPr>
          <a:xfrm>
            <a:off x="6492240" y="4663440"/>
            <a:ext cx="384048" cy="384048"/>
          </a:xfrm>
          <a:prstGeom prst="ellipse">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a:off x="6492240" y="466344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6</a:t>
            </a:r>
            <a:endParaRPr b="0" i="0" sz="1500" u="none" cap="none" strike="noStrike">
              <a:solidFill>
                <a:schemeClr val="dk1"/>
              </a:solidFill>
              <a:latin typeface="Calibri"/>
              <a:ea typeface="Calibri"/>
              <a:cs typeface="Calibri"/>
              <a:sym typeface="Calibri"/>
            </a:endParaRPr>
          </a:p>
        </p:txBody>
      </p:sp>
      <p:sp>
        <p:nvSpPr>
          <p:cNvPr id="287" name="Google Shape;287;p13"/>
          <p:cNvSpPr/>
          <p:nvPr/>
        </p:nvSpPr>
        <p:spPr>
          <a:xfrm>
            <a:off x="6995160" y="461772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1350"/>
              <a:buFont typeface="Calibri"/>
              <a:buNone/>
            </a:pPr>
            <a:r>
              <a:rPr b="1" i="0" lang="en-US" sz="1350" u="none" cap="none" strike="noStrike">
                <a:solidFill>
                  <a:srgbClr val="1F3864"/>
                </a:solidFill>
                <a:latin typeface="Calibri"/>
                <a:ea typeface="Calibri"/>
                <a:cs typeface="Calibri"/>
                <a:sym typeface="Calibri"/>
              </a:rPr>
              <a:t>Leverage Q4 Performance</a:t>
            </a:r>
            <a:endParaRPr b="0" i="0" sz="1350" u="none" cap="none" strike="noStrike">
              <a:solidFill>
                <a:schemeClr val="dk1"/>
              </a:solidFill>
              <a:latin typeface="Calibri"/>
              <a:ea typeface="Calibri"/>
              <a:cs typeface="Calibri"/>
              <a:sym typeface="Calibri"/>
            </a:endParaRPr>
          </a:p>
        </p:txBody>
      </p:sp>
      <p:sp>
        <p:nvSpPr>
          <p:cNvPr id="288" name="Google Shape;288;p13"/>
          <p:cNvSpPr/>
          <p:nvPr/>
        </p:nvSpPr>
        <p:spPr>
          <a:xfrm>
            <a:off x="10881360" y="463600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50"/>
              <a:buFont typeface="Calibri"/>
              <a:buNone/>
            </a:pPr>
            <a:r>
              <a:rPr b="1" i="0" lang="en-US" sz="950" u="none" cap="none" strike="noStrike">
                <a:solidFill>
                  <a:srgbClr val="2E7D32"/>
                </a:solidFill>
                <a:latin typeface="Calibri"/>
                <a:ea typeface="Calibri"/>
                <a:cs typeface="Calibri"/>
                <a:sym typeface="Calibri"/>
              </a:rPr>
              <a:t>Low</a:t>
            </a:r>
            <a:endParaRPr b="0" i="0" sz="950" u="none" cap="none" strike="noStrike">
              <a:solidFill>
                <a:schemeClr val="dk1"/>
              </a:solidFill>
              <a:latin typeface="Calibri"/>
              <a:ea typeface="Calibri"/>
              <a:cs typeface="Calibri"/>
              <a:sym typeface="Calibri"/>
            </a:endParaRPr>
          </a:p>
        </p:txBody>
      </p:sp>
      <p:sp>
        <p:nvSpPr>
          <p:cNvPr id="289" name="Google Shape;289;p13"/>
          <p:cNvSpPr/>
          <p:nvPr/>
        </p:nvSpPr>
        <p:spPr>
          <a:xfrm>
            <a:off x="6995160" y="4965192"/>
            <a:ext cx="47091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2A"/>
              </a:buClr>
              <a:buSzPts val="1050"/>
              <a:buFont typeface="Calibri"/>
              <a:buNone/>
            </a:pPr>
            <a:r>
              <a:rPr b="0" i="0" lang="en-US" sz="1050" u="none" cap="none" strike="noStrike">
                <a:solidFill>
                  <a:srgbClr val="0D1B2A"/>
                </a:solidFill>
                <a:latin typeface="Calibri"/>
                <a:ea typeface="Calibri"/>
                <a:cs typeface="Calibri"/>
                <a:sym typeface="Calibri"/>
              </a:rPr>
              <a:t>Apply Q4 demand patterns to inventory &amp; promotions in weaker quarters.</a:t>
            </a:r>
            <a:endParaRPr b="0" i="0" sz="1050" u="none" cap="none" strike="noStrike">
              <a:solidFill>
                <a:schemeClr val="dk1"/>
              </a:solidFill>
              <a:latin typeface="Calibri"/>
              <a:ea typeface="Calibri"/>
              <a:cs typeface="Calibri"/>
              <a:sym typeface="Calibri"/>
            </a:endParaRPr>
          </a:p>
        </p:txBody>
      </p:sp>
      <p:sp>
        <p:nvSpPr>
          <p:cNvPr id="290" name="Google Shape;290;p13"/>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291" name="Google Shape;291;p13"/>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14"/>
          <p:cNvSpPr/>
          <p:nvPr/>
        </p:nvSpPr>
        <p:spPr>
          <a:xfrm>
            <a:off x="548640" y="36576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300"/>
              <a:buFont typeface="Calibri"/>
              <a:buNone/>
            </a:pPr>
            <a:r>
              <a:rPr b="1" i="0" lang="en-US" sz="1300" u="none" cap="none" strike="noStrike">
                <a:solidFill>
                  <a:srgbClr val="2E74B5"/>
                </a:solidFill>
                <a:latin typeface="Calibri"/>
                <a:ea typeface="Calibri"/>
                <a:cs typeface="Calibri"/>
                <a:sym typeface="Calibri"/>
              </a:rPr>
              <a:t>ANALYTICAL INTEGRITY</a:t>
            </a:r>
            <a:endParaRPr b="0" i="0" sz="1300" u="none" cap="none" strike="noStrike">
              <a:solidFill>
                <a:schemeClr val="dk1"/>
              </a:solidFill>
              <a:latin typeface="Calibri"/>
              <a:ea typeface="Calibri"/>
              <a:cs typeface="Calibri"/>
              <a:sym typeface="Calibri"/>
            </a:endParaRPr>
          </a:p>
        </p:txBody>
      </p:sp>
      <p:sp>
        <p:nvSpPr>
          <p:cNvPr id="298" name="Google Shape;298;p14"/>
          <p:cNvSpPr/>
          <p:nvPr/>
        </p:nvSpPr>
        <p:spPr>
          <a:xfrm>
            <a:off x="548640" y="685800"/>
            <a:ext cx="10972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3000"/>
              <a:buFont typeface="Calibri"/>
              <a:buNone/>
            </a:pPr>
            <a:r>
              <a:rPr b="1" i="0" lang="en-US" sz="3000" u="none" cap="none" strike="noStrike">
                <a:solidFill>
                  <a:srgbClr val="1F3864"/>
                </a:solidFill>
                <a:latin typeface="Calibri"/>
                <a:ea typeface="Calibri"/>
                <a:cs typeface="Calibri"/>
                <a:sym typeface="Calibri"/>
              </a:rPr>
              <a:t>Data Limitations &amp; Caveats</a:t>
            </a:r>
            <a:endParaRPr b="0" i="0" sz="3000" u="none" cap="none" strike="noStrike">
              <a:solidFill>
                <a:schemeClr val="dk1"/>
              </a:solidFill>
              <a:latin typeface="Calibri"/>
              <a:ea typeface="Calibri"/>
              <a:cs typeface="Calibri"/>
              <a:sym typeface="Calibri"/>
            </a:endParaRPr>
          </a:p>
        </p:txBody>
      </p:sp>
      <p:sp>
        <p:nvSpPr>
          <p:cNvPr id="299" name="Google Shape;299;p14"/>
          <p:cNvSpPr/>
          <p:nvPr/>
        </p:nvSpPr>
        <p:spPr>
          <a:xfrm>
            <a:off x="548640" y="1508760"/>
            <a:ext cx="5394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4B5"/>
              </a:buClr>
              <a:buSzPts val="1250"/>
              <a:buFont typeface="Calibri"/>
              <a:buNone/>
            </a:pPr>
            <a:r>
              <a:rPr b="1" i="0" lang="en-US" sz="1250" u="none" cap="none" strike="noStrike">
                <a:solidFill>
                  <a:srgbClr val="2E74B5"/>
                </a:solidFill>
                <a:latin typeface="Calibri"/>
                <a:ea typeface="Calibri"/>
                <a:cs typeface="Calibri"/>
                <a:sym typeface="Calibri"/>
              </a:rPr>
              <a:t>SOURCE-DATA LIMITATIONS</a:t>
            </a:r>
            <a:endParaRPr b="0" i="0" sz="1250" u="none" cap="none" strike="noStrike">
              <a:solidFill>
                <a:schemeClr val="dk1"/>
              </a:solidFill>
              <a:latin typeface="Calibri"/>
              <a:ea typeface="Calibri"/>
              <a:cs typeface="Calibri"/>
              <a:sym typeface="Calibri"/>
            </a:endParaRPr>
          </a:p>
        </p:txBody>
      </p:sp>
      <p:sp>
        <p:nvSpPr>
          <p:cNvPr id="300" name="Google Shape;300;p14"/>
          <p:cNvSpPr/>
          <p:nvPr/>
        </p:nvSpPr>
        <p:spPr>
          <a:xfrm>
            <a:off x="548640" y="1874520"/>
            <a:ext cx="5394960" cy="411480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0D1B2A"/>
              </a:buClr>
              <a:buSzPts val="1250"/>
              <a:buFont typeface="Calibri"/>
              <a:buChar char="▪"/>
            </a:pPr>
            <a:r>
              <a:rPr b="0" i="0" lang="en-US" sz="1250" u="none" cap="none" strike="noStrike">
                <a:solidFill>
                  <a:srgbClr val="0D1B2A"/>
                </a:solidFill>
                <a:latin typeface="Calibri"/>
                <a:ea typeface="Calibri"/>
                <a:cs typeface="Calibri"/>
                <a:sym typeface="Calibri"/>
              </a:rPr>
              <a:t>No explicit product cost/COGS — profit cannot be derived.</a:t>
            </a:r>
            <a:endParaRPr b="0" i="0" sz="12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250"/>
              <a:buFont typeface="Calibri"/>
              <a:buChar char="▪"/>
            </a:pPr>
            <a:r>
              <a:rPr b="0" i="0" lang="en-US" sz="1250" u="none" cap="none" strike="noStrike">
                <a:solidFill>
                  <a:srgbClr val="0D1B2A"/>
                </a:solidFill>
                <a:latin typeface="Calibri"/>
                <a:ea typeface="Calibri"/>
                <a:cs typeface="Calibri"/>
                <a:sym typeface="Calibri"/>
              </a:rPr>
              <a:t>Signup-date inconsistency affects tenure/cohort analysis.</a:t>
            </a:r>
            <a:endParaRPr b="0" i="0" sz="12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250"/>
              <a:buFont typeface="Calibri"/>
              <a:buChar char="▪"/>
            </a:pPr>
            <a:r>
              <a:rPr b="0" i="0" lang="en-US" sz="1250" u="none" cap="none" strike="noStrike">
                <a:solidFill>
                  <a:srgbClr val="0D1B2A"/>
                </a:solidFill>
                <a:latin typeface="Calibri"/>
                <a:ea typeface="Calibri"/>
                <a:cs typeface="Calibri"/>
                <a:sym typeface="Calibri"/>
              </a:rPr>
              <a:t>No return-date field — only order-month association.</a:t>
            </a:r>
            <a:endParaRPr b="0" i="0" sz="12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250"/>
              <a:buFont typeface="Calibri"/>
              <a:buChar char="▪"/>
            </a:pPr>
            <a:r>
              <a:rPr b="0" i="0" lang="en-US" sz="1250" u="none" cap="none" strike="noStrike">
                <a:solidFill>
                  <a:srgbClr val="0D1B2A"/>
                </a:solidFill>
                <a:latin typeface="Calibri"/>
                <a:ea typeface="Calibri"/>
                <a:cs typeface="Calibri"/>
                <a:sym typeface="Calibri"/>
              </a:rPr>
              <a:t>Multiple return records can reference one order item.</a:t>
            </a:r>
            <a:endParaRPr b="0" i="0" sz="12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250"/>
              <a:buFont typeface="Calibri"/>
              <a:buChar char="▪"/>
            </a:pPr>
            <a:r>
              <a:rPr b="0" i="0" lang="en-US" sz="1250" u="none" cap="none" strike="noStrike">
                <a:solidFill>
                  <a:srgbClr val="0D1B2A"/>
                </a:solidFill>
                <a:latin typeface="Calibri"/>
                <a:ea typeface="Calibri"/>
                <a:cs typeface="Calibri"/>
                <a:sym typeface="Calibri"/>
              </a:rPr>
              <a:t>No payment method/status fields available.</a:t>
            </a:r>
            <a:endParaRPr b="0" i="0" sz="125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0D1B2A"/>
              </a:buClr>
              <a:buSzPts val="1250"/>
              <a:buFont typeface="Calibri"/>
              <a:buChar char="▪"/>
            </a:pPr>
            <a:r>
              <a:rPr b="0" i="0" lang="en-US" sz="1250" u="none" cap="none" strike="noStrike">
                <a:solidFill>
                  <a:srgbClr val="0D1B2A"/>
                </a:solidFill>
                <a:latin typeface="Calibri"/>
                <a:ea typeface="Calibri"/>
                <a:cs typeface="Calibri"/>
                <a:sym typeface="Calibri"/>
              </a:rPr>
              <a:t>Shipment status limited to SHIPPED, DELIVERED, LATE.</a:t>
            </a:r>
            <a:endParaRPr b="0" i="0" sz="1250" u="none" cap="none" strike="noStrike">
              <a:solidFill>
                <a:schemeClr val="dk1"/>
              </a:solidFill>
              <a:latin typeface="Calibri"/>
              <a:ea typeface="Calibri"/>
              <a:cs typeface="Calibri"/>
              <a:sym typeface="Calibri"/>
            </a:endParaRPr>
          </a:p>
        </p:txBody>
      </p:sp>
      <p:sp>
        <p:nvSpPr>
          <p:cNvPr id="301" name="Google Shape;301;p14"/>
          <p:cNvSpPr/>
          <p:nvPr/>
        </p:nvSpPr>
        <p:spPr>
          <a:xfrm>
            <a:off x="6309350" y="1508750"/>
            <a:ext cx="5349300" cy="4287000"/>
          </a:xfrm>
          <a:prstGeom prst="roundRect">
            <a:avLst>
              <a:gd fmla="val 1176" name="adj"/>
            </a:avLst>
          </a:prstGeom>
          <a:solidFill>
            <a:srgbClr val="1F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4"/>
          <p:cNvSpPr/>
          <p:nvPr/>
        </p:nvSpPr>
        <p:spPr>
          <a:xfrm>
            <a:off x="6583680" y="1737360"/>
            <a:ext cx="4754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250"/>
              <a:buFont typeface="Calibri"/>
              <a:buNone/>
            </a:pPr>
            <a:r>
              <a:rPr b="1" i="0" lang="en-US" sz="1250" u="none" cap="none" strike="noStrike">
                <a:solidFill>
                  <a:srgbClr val="C9A227"/>
                </a:solidFill>
                <a:latin typeface="Calibri"/>
                <a:ea typeface="Calibri"/>
                <a:cs typeface="Calibri"/>
                <a:sym typeface="Calibri"/>
              </a:rPr>
              <a:t>PREFERRED TERMINOLOGY</a:t>
            </a:r>
            <a:endParaRPr b="0" i="0" sz="1250" u="none" cap="none" strike="noStrike">
              <a:solidFill>
                <a:schemeClr val="dk1"/>
              </a:solidFill>
              <a:latin typeface="Calibri"/>
              <a:ea typeface="Calibri"/>
              <a:cs typeface="Calibri"/>
              <a:sym typeface="Calibri"/>
            </a:endParaRPr>
          </a:p>
        </p:txBody>
      </p:sp>
      <p:graphicFrame>
        <p:nvGraphicFramePr>
          <p:cNvPr id="303" name="Google Shape;303;p14"/>
          <p:cNvGraphicFramePr/>
          <p:nvPr/>
        </p:nvGraphicFramePr>
        <p:xfrm>
          <a:off x="6583680" y="2148840"/>
          <a:ext cx="3000000" cy="3000000"/>
        </p:xfrm>
        <a:graphic>
          <a:graphicData uri="http://schemas.openxmlformats.org/drawingml/2006/table">
            <a:tbl>
              <a:tblPr>
                <a:noFill/>
                <a:tableStyleId>{91289AAA-7F23-49BC-BC7E-C14AFD6A27FA}</a:tableStyleId>
              </a:tblPr>
              <a:tblGrid>
                <a:gridCol w="2377450"/>
                <a:gridCol w="2423150"/>
              </a:tblGrid>
              <a:tr h="502925">
                <a:tc>
                  <a:txBody>
                    <a:bodyPr/>
                    <a:lstStyle/>
                    <a:p>
                      <a:pPr indent="0" lvl="0" marL="0" marR="0" rtl="0" algn="l">
                        <a:spcBef>
                          <a:spcPts val="0"/>
                        </a:spcBef>
                        <a:spcAft>
                          <a:spcPts val="0"/>
                        </a:spcAft>
                        <a:buClr>
                          <a:srgbClr val="1F3864"/>
                        </a:buClr>
                        <a:buSzPts val="1050"/>
                        <a:buFont typeface="Calibri"/>
                        <a:buNone/>
                      </a:pPr>
                      <a:r>
                        <a:rPr b="1" lang="en-US" sz="1050" u="none" cap="none" strike="noStrike">
                          <a:solidFill>
                            <a:srgbClr val="1F3864"/>
                          </a:solidFill>
                        </a:rPr>
                        <a:t>Use</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C9A227"/>
                    </a:solidFill>
                  </a:tcPr>
                </a:tc>
                <a:tc>
                  <a:txBody>
                    <a:bodyPr/>
                    <a:lstStyle/>
                    <a:p>
                      <a:pPr indent="0" lvl="0" marL="0" marR="0" rtl="0" algn="l">
                        <a:spcBef>
                          <a:spcPts val="0"/>
                        </a:spcBef>
                        <a:spcAft>
                          <a:spcPts val="0"/>
                        </a:spcAft>
                        <a:buClr>
                          <a:srgbClr val="1F3864"/>
                        </a:buClr>
                        <a:buSzPts val="1050"/>
                        <a:buFont typeface="Calibri"/>
                        <a:buNone/>
                      </a:pPr>
                      <a:r>
                        <a:rPr b="1" lang="en-US" sz="1050" u="none" cap="none" strike="noStrike">
                          <a:solidFill>
                            <a:srgbClr val="1F3864"/>
                          </a:solidFill>
                        </a:rPr>
                        <a:t>Avoid</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C9A227"/>
                    </a:solidFill>
                  </a:tcPr>
                </a:tc>
              </a:tr>
              <a:tr h="502925">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Gross sales / revenue</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Profit / margin</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r>
              <a:tr h="502925">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Promotion-associated sales</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Sales caused by promotion</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r>
              <a:tr h="502925">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Distinct returned order items</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Return records = unique items</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r>
              <a:tr h="502925">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Payment difference</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Payment error</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r>
              <a:tr h="502925">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Higher return rate among late orders</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c>
                  <a:txBody>
                    <a:bodyPr/>
                    <a:lstStyle/>
                    <a:p>
                      <a:pPr indent="0" lvl="0" marL="0" marR="0" rtl="0" algn="l">
                        <a:spcBef>
                          <a:spcPts val="0"/>
                        </a:spcBef>
                        <a:spcAft>
                          <a:spcPts val="0"/>
                        </a:spcAft>
                        <a:buClr>
                          <a:srgbClr val="FFFFFF"/>
                        </a:buClr>
                        <a:buSzPts val="1050"/>
                        <a:buFont typeface="Calibri"/>
                        <a:buNone/>
                      </a:pPr>
                      <a:r>
                        <a:rPr lang="en-US" sz="1050" u="none" cap="none" strike="noStrike">
                          <a:solidFill>
                            <a:srgbClr val="FFFFFF"/>
                          </a:solidFill>
                        </a:rPr>
                        <a:t>Late shipment caused the return</a:t>
                      </a:r>
                      <a:endParaRPr sz="1050" u="none" cap="none" strike="noStrike"/>
                    </a:p>
                  </a:txBody>
                  <a:tcPr marT="45725" marB="45725" marR="91450" marL="91450" anchor="ctr">
                    <a:lnL cap="flat" cmpd="sng" w="9525">
                      <a:solidFill>
                        <a:srgbClr val="3A5A8C"/>
                      </a:solidFill>
                      <a:prstDash val="solid"/>
                      <a:round/>
                      <a:headEnd len="sm" w="sm" type="none"/>
                      <a:tailEnd len="sm" w="sm" type="none"/>
                    </a:lnL>
                    <a:lnR cap="flat" cmpd="sng" w="9525">
                      <a:solidFill>
                        <a:srgbClr val="3A5A8C"/>
                      </a:solidFill>
                      <a:prstDash val="solid"/>
                      <a:round/>
                      <a:headEnd len="sm" w="sm" type="none"/>
                      <a:tailEnd len="sm" w="sm" type="none"/>
                    </a:lnR>
                    <a:lnT cap="flat" cmpd="sng" w="9525">
                      <a:solidFill>
                        <a:srgbClr val="3A5A8C"/>
                      </a:solidFill>
                      <a:prstDash val="solid"/>
                      <a:round/>
                      <a:headEnd len="sm" w="sm" type="none"/>
                      <a:tailEnd len="sm" w="sm" type="none"/>
                    </a:lnT>
                    <a:lnB cap="flat" cmpd="sng" w="9525">
                      <a:solidFill>
                        <a:srgbClr val="3A5A8C"/>
                      </a:solidFill>
                      <a:prstDash val="solid"/>
                      <a:round/>
                      <a:headEnd len="sm" w="sm" type="none"/>
                      <a:tailEnd len="sm" w="sm" type="none"/>
                    </a:lnB>
                    <a:solidFill>
                      <a:srgbClr val="2A4A7C"/>
                    </a:solidFill>
                  </a:tcPr>
                </a:tc>
              </a:tr>
            </a:tbl>
          </a:graphicData>
        </a:graphic>
      </p:graphicFrame>
      <p:sp>
        <p:nvSpPr>
          <p:cNvPr id="304" name="Google Shape;304;p14"/>
          <p:cNvSpPr/>
          <p:nvPr/>
        </p:nvSpPr>
        <p:spPr>
          <a:xfrm>
            <a:off x="548640" y="65379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Multi-Branch Retail Performance &amp; Operations Intelligence</a:t>
            </a:r>
            <a:endParaRPr b="0" i="0" sz="900" u="none" cap="none" strike="noStrike">
              <a:solidFill>
                <a:schemeClr val="dk1"/>
              </a:solidFill>
              <a:latin typeface="Calibri"/>
              <a:ea typeface="Calibri"/>
              <a:cs typeface="Calibri"/>
              <a:sym typeface="Calibri"/>
            </a:endParaRPr>
          </a:p>
        </p:txBody>
      </p:sp>
      <p:sp>
        <p:nvSpPr>
          <p:cNvPr id="305" name="Google Shape;305;p14"/>
          <p:cNvSpPr/>
          <p:nvPr/>
        </p:nvSpPr>
        <p:spPr>
          <a:xfrm>
            <a:off x="11521440" y="653796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0"/>
              </a:buClr>
              <a:buSzPts val="900"/>
              <a:buFont typeface="Calibri"/>
              <a:buNone/>
            </a:pPr>
            <a:r>
              <a:rPr b="0" i="0" lang="en-US" sz="900" u="none" cap="none" strike="noStrike">
                <a:solidFill>
                  <a:srgbClr val="5B6470"/>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864"/>
        </a:solidFill>
      </p:bgPr>
    </p:bg>
    <p:spTree>
      <p:nvGrpSpPr>
        <p:cNvPr id="310" name="Shape 310"/>
        <p:cNvGrpSpPr/>
        <p:nvPr/>
      </p:nvGrpSpPr>
      <p:grpSpPr>
        <a:xfrm>
          <a:off x="0" y="0"/>
          <a:ext cx="0" cy="0"/>
          <a:chOff x="0" y="0"/>
          <a:chExt cx="0" cy="0"/>
        </a:xfrm>
      </p:grpSpPr>
      <p:sp>
        <p:nvSpPr>
          <p:cNvPr id="311" name="Google Shape;311;p15"/>
          <p:cNvSpPr/>
          <p:nvPr/>
        </p:nvSpPr>
        <p:spPr>
          <a:xfrm>
            <a:off x="-1828800" y="4114800"/>
            <a:ext cx="5486400" cy="5486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2E74B5">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731525" y="2041750"/>
            <a:ext cx="9144000" cy="115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Calibri"/>
              <a:buNone/>
            </a:pPr>
            <a:r>
              <a:rPr b="1" i="0" lang="en-US" sz="4400" u="none" cap="none" strike="noStrike">
                <a:solidFill>
                  <a:srgbClr val="FFFFFF"/>
                </a:solidFill>
                <a:latin typeface="Calibri"/>
                <a:ea typeface="Calibri"/>
                <a:cs typeface="Calibri"/>
                <a:sym typeface="Calibri"/>
              </a:rPr>
              <a:t>Thank You</a:t>
            </a:r>
            <a:endParaRPr b="0" i="0" sz="4400" u="none" cap="none" strike="noStrike">
              <a:solidFill>
                <a:schemeClr val="dk1"/>
              </a:solidFill>
              <a:latin typeface="Calibri"/>
              <a:ea typeface="Calibri"/>
              <a:cs typeface="Calibri"/>
              <a:sym typeface="Calibri"/>
            </a:endParaRPr>
          </a:p>
        </p:txBody>
      </p:sp>
      <p:sp>
        <p:nvSpPr>
          <p:cNvPr id="313" name="Google Shape;313;p15"/>
          <p:cNvSpPr/>
          <p:nvPr/>
        </p:nvSpPr>
        <p:spPr>
          <a:xfrm>
            <a:off x="731520" y="3063240"/>
            <a:ext cx="9144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6EA"/>
              </a:buClr>
              <a:buSzPts val="1600"/>
              <a:buFont typeface="Calibri"/>
              <a:buNone/>
            </a:pPr>
            <a:r>
              <a:rPr b="0" i="0" lang="en-US" sz="2000" u="none" cap="none" strike="noStrike">
                <a:solidFill>
                  <a:srgbClr val="C9D6EA"/>
                </a:solidFill>
                <a:latin typeface="Calibri"/>
                <a:ea typeface="Calibri"/>
                <a:cs typeface="Calibri"/>
                <a:sym typeface="Calibri"/>
              </a:rPr>
              <a:t>Multi-Branch Retail Performance &amp; Operations Intelligence</a:t>
            </a:r>
            <a:endParaRPr b="0" i="0" sz="2000" u="none" cap="none" strike="noStrike">
              <a:solidFill>
                <a:schemeClr val="dk1"/>
              </a:solidFill>
              <a:latin typeface="Calibri"/>
              <a:ea typeface="Calibri"/>
              <a:cs typeface="Calibri"/>
              <a:sym typeface="Calibri"/>
            </a:endParaRPr>
          </a:p>
        </p:txBody>
      </p:sp>
      <p:sp>
        <p:nvSpPr>
          <p:cNvPr id="314" name="Google Shape;314;p15"/>
          <p:cNvSpPr/>
          <p:nvPr/>
        </p:nvSpPr>
        <p:spPr>
          <a:xfrm>
            <a:off x="731520" y="3931920"/>
            <a:ext cx="914400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800" u="none" cap="none" strike="noStrike">
                <a:solidFill>
                  <a:srgbClr val="FFFFFF"/>
                </a:solidFill>
                <a:latin typeface="Calibri"/>
                <a:ea typeface="Calibri"/>
                <a:cs typeface="Calibri"/>
                <a:sym typeface="Calibri"/>
              </a:rPr>
              <a:t>Abhirami Ananthakumar</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D6EA"/>
              </a:buClr>
              <a:buSzPts val="1200"/>
              <a:buFont typeface="Calibri"/>
              <a:buNone/>
            </a:pPr>
            <a:r>
              <a:rPr b="0" i="0" lang="en-US" sz="1600" u="none" cap="none" strike="noStrike">
                <a:solidFill>
                  <a:srgbClr val="C9D6EA"/>
                </a:solidFill>
                <a:latin typeface="Calibri"/>
                <a:ea typeface="Calibri"/>
                <a:cs typeface="Calibri"/>
                <a:sym typeface="Calibri"/>
              </a:rPr>
              <a:t>Data Analyst</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FB3D6"/>
              </a:buClr>
              <a:buSzPts val="1100"/>
              <a:buFont typeface="Calibri"/>
              <a:buNone/>
            </a:pPr>
            <a:r>
              <a:rPr b="0" i="0" lang="en-US" sz="1500" u="none" cap="none" strike="noStrike">
                <a:solidFill>
                  <a:srgbClr val="9FB3D6"/>
                </a:solidFill>
                <a:latin typeface="Calibri"/>
                <a:ea typeface="Calibri"/>
                <a:cs typeface="Calibri"/>
                <a:sym typeface="Calibri"/>
              </a:rPr>
              <a:t>GitHub: </a:t>
            </a:r>
            <a:r>
              <a:rPr lang="en-US" sz="1500" u="sng">
                <a:solidFill>
                  <a:schemeClr val="hlink"/>
                </a:solidFill>
                <a:latin typeface="Calibri"/>
                <a:ea typeface="Calibri"/>
                <a:cs typeface="Calibri"/>
                <a:sym typeface="Calibri"/>
                <a:hlinkClick r:id="rId3"/>
              </a:rPr>
              <a:t>github.com/abhirami-ananthakumar/multi-branch-retail-performance-operations-analytics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FB3D6"/>
              </a:buClr>
              <a:buSzPts val="1100"/>
              <a:buFont typeface="Calibri"/>
              <a:buNone/>
            </a:pPr>
            <a:r>
              <a:rPr b="0" i="0" lang="en-US" sz="1500" u="none" cap="none" strike="noStrike">
                <a:solidFill>
                  <a:srgbClr val="9FB3D6"/>
                </a:solidFill>
                <a:latin typeface="Calibri"/>
                <a:ea typeface="Calibri"/>
                <a:cs typeface="Calibri"/>
                <a:sym typeface="Calibri"/>
              </a:rPr>
              <a:t>LinkedIn: </a:t>
            </a:r>
            <a:r>
              <a:rPr b="0" i="0" lang="en-US" sz="1500" u="sng" cap="none" strike="noStrike">
                <a:solidFill>
                  <a:schemeClr val="hlink"/>
                </a:solidFill>
                <a:latin typeface="Calibri"/>
                <a:ea typeface="Calibri"/>
                <a:cs typeface="Calibri"/>
                <a:sym typeface="Calibri"/>
                <a:hlinkClick r:id="rId4"/>
              </a:rPr>
              <a:t>linkedin.com/in/abhirami-ananthakumar-8b83a5256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2026-08-13T08:15:46Z</dcterms:created>
  <dc:creator>PptxGenJS</dc:creator>
</cp:coreProperties>
</file>